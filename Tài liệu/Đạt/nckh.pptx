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5"/>
  </p:notesMasterIdLst>
  <p:sldIdLst>
    <p:sldId id="256" r:id="rId5"/>
    <p:sldId id="269" r:id="rId6"/>
    <p:sldId id="268" r:id="rId7"/>
    <p:sldId id="270" r:id="rId8"/>
    <p:sldId id="272" r:id="rId9"/>
    <p:sldId id="273" r:id="rId10"/>
    <p:sldId id="274" r:id="rId11"/>
    <p:sldId id="258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5" r:id="rId40"/>
    <p:sldId id="303" r:id="rId41"/>
    <p:sldId id="304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191B82"/>
    <a:srgbClr val="C64E55"/>
    <a:srgbClr val="29176F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A5F43-4431-F3C9-7F92-A931B1101EC2}" v="9" dt="2025-04-23T05:30:01.647"/>
    <p1510:client id="{48AFD9E0-6730-18BA-37BA-DDB5548695DA}" v="95" dt="2025-04-23T05:13:07.035"/>
    <p1510:client id="{D1784FCE-22CE-A26D-D4FA-D679065A7806}" v="20" dt="2025-04-23T05:40:4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À THỊ THÚY HIÊN" userId="S::hien231230768@lms.utc.edu.vn::a221d787-2cef-4f04-b3bf-49dd9565f6bf" providerId="AD" clId="Web-{48AFD9E0-6730-18BA-37BA-DDB5548695DA}"/>
    <pc:docChg chg="modSld">
      <pc:chgData name="HÀ THỊ THÚY HIÊN" userId="S::hien231230768@lms.utc.edu.vn::a221d787-2cef-4f04-b3bf-49dd9565f6bf" providerId="AD" clId="Web-{48AFD9E0-6730-18BA-37BA-DDB5548695DA}" dt="2025-04-23T05:13:07.035" v="48" actId="14100"/>
      <pc:docMkLst>
        <pc:docMk/>
      </pc:docMkLst>
      <pc:sldChg chg="addSp delSp modSp">
        <pc:chgData name="HÀ THỊ THÚY HIÊN" userId="S::hien231230768@lms.utc.edu.vn::a221d787-2cef-4f04-b3bf-49dd9565f6bf" providerId="AD" clId="Web-{48AFD9E0-6730-18BA-37BA-DDB5548695DA}" dt="2025-04-23T05:13:07.035" v="48" actId="14100"/>
        <pc:sldMkLst>
          <pc:docMk/>
          <pc:sldMk cId="1448999425" sldId="265"/>
        </pc:sldMkLst>
        <pc:spChg chg="mod">
          <ac:chgData name="HÀ THỊ THÚY HIÊN" userId="S::hien231230768@lms.utc.edu.vn::a221d787-2cef-4f04-b3bf-49dd9565f6bf" providerId="AD" clId="Web-{48AFD9E0-6730-18BA-37BA-DDB5548695DA}" dt="2025-04-23T05:12:56.832" v="46" actId="20577"/>
          <ac:spMkLst>
            <pc:docMk/>
            <pc:sldMk cId="1448999425" sldId="265"/>
            <ac:spMk id="8" creationId="{16BAB56B-8772-6475-CA0A-BFD254136D45}"/>
          </ac:spMkLst>
        </pc:spChg>
        <pc:picChg chg="del">
          <ac:chgData name="HÀ THỊ THÚY HIÊN" userId="S::hien231230768@lms.utc.edu.vn::a221d787-2cef-4f04-b3bf-49dd9565f6bf" providerId="AD" clId="Web-{48AFD9E0-6730-18BA-37BA-DDB5548695DA}" dt="2025-04-23T05:12:02.894" v="32"/>
          <ac:picMkLst>
            <pc:docMk/>
            <pc:sldMk cId="1448999425" sldId="265"/>
            <ac:picMk id="3" creationId="{46B8FD8A-6D77-1AB8-6F40-B35C84EF29B8}"/>
          </ac:picMkLst>
        </pc:picChg>
        <pc:picChg chg="add mod">
          <ac:chgData name="HÀ THỊ THÚY HIÊN" userId="S::hien231230768@lms.utc.edu.vn::a221d787-2cef-4f04-b3bf-49dd9565f6bf" providerId="AD" clId="Web-{48AFD9E0-6730-18BA-37BA-DDB5548695DA}" dt="2025-04-23T05:13:07.035" v="48" actId="14100"/>
          <ac:picMkLst>
            <pc:docMk/>
            <pc:sldMk cId="1448999425" sldId="265"/>
            <ac:picMk id="7" creationId="{9358377B-DFEE-3A76-D89F-0FEBF5E50A04}"/>
          </ac:picMkLst>
        </pc:picChg>
      </pc:sldChg>
    </pc:docChg>
  </pc:docChgLst>
  <pc:docChgLst>
    <pc:chgData name="HÀ THỊ THÚY HIÊN" userId="S::hien231230768@lms.utc.edu.vn::a221d787-2cef-4f04-b3bf-49dd9565f6bf" providerId="AD" clId="Web-{213A5F43-4431-F3C9-7F92-A931B1101EC2}"/>
    <pc:docChg chg="modSld">
      <pc:chgData name="HÀ THỊ THÚY HIÊN" userId="S::hien231230768@lms.utc.edu.vn::a221d787-2cef-4f04-b3bf-49dd9565f6bf" providerId="AD" clId="Web-{213A5F43-4431-F3C9-7F92-A931B1101EC2}" dt="2025-04-23T05:30:01.647" v="8" actId="14100"/>
      <pc:docMkLst>
        <pc:docMk/>
      </pc:docMkLst>
      <pc:sldChg chg="modSp">
        <pc:chgData name="HÀ THỊ THÚY HIÊN" userId="S::hien231230768@lms.utc.edu.vn::a221d787-2cef-4f04-b3bf-49dd9565f6bf" providerId="AD" clId="Web-{213A5F43-4431-F3C9-7F92-A931B1101EC2}" dt="2025-04-23T05:29:21.427" v="3"/>
        <pc:sldMkLst>
          <pc:docMk/>
          <pc:sldMk cId="3789878926" sldId="262"/>
        </pc:sldMkLst>
        <pc:picChg chg="mod ord">
          <ac:chgData name="HÀ THỊ THÚY HIÊN" userId="S::hien231230768@lms.utc.edu.vn::a221d787-2cef-4f04-b3bf-49dd9565f6bf" providerId="AD" clId="Web-{213A5F43-4431-F3C9-7F92-A931B1101EC2}" dt="2025-04-23T05:29:21.427" v="3"/>
          <ac:picMkLst>
            <pc:docMk/>
            <pc:sldMk cId="3789878926" sldId="262"/>
            <ac:picMk id="8" creationId="{A9278219-84AC-A2E1-B748-C4F0E53B3050}"/>
          </ac:picMkLst>
        </pc:picChg>
      </pc:sldChg>
      <pc:sldChg chg="modSp">
        <pc:chgData name="HÀ THỊ THÚY HIÊN" userId="S::hien231230768@lms.utc.edu.vn::a221d787-2cef-4f04-b3bf-49dd9565f6bf" providerId="AD" clId="Web-{213A5F43-4431-F3C9-7F92-A931B1101EC2}" dt="2025-04-23T05:30:01.647" v="8" actId="14100"/>
        <pc:sldMkLst>
          <pc:docMk/>
          <pc:sldMk cId="1989998459" sldId="264"/>
        </pc:sldMkLst>
        <pc:picChg chg="mod">
          <ac:chgData name="HÀ THỊ THÚY HIÊN" userId="S::hien231230768@lms.utc.edu.vn::a221d787-2cef-4f04-b3bf-49dd9565f6bf" providerId="AD" clId="Web-{213A5F43-4431-F3C9-7F92-A931B1101EC2}" dt="2025-04-23T05:30:01.647" v="8" actId="14100"/>
          <ac:picMkLst>
            <pc:docMk/>
            <pc:sldMk cId="1989998459" sldId="264"/>
            <ac:picMk id="3" creationId="{44EBB9C8-6A93-473C-8C94-3459044690DA}"/>
          </ac:picMkLst>
        </pc:picChg>
      </pc:sldChg>
    </pc:docChg>
  </pc:docChgLst>
  <pc:docChgLst>
    <pc:chgData name="LÊ THỊ YẾN NHI" userId="S::nhi231230858@lms.utc.edu.vn::a40cbddc-60fb-4ed3-9a9b-1badc640105c" providerId="AD" clId="Web-{D1784FCE-22CE-A26D-D4FA-D679065A7806}"/>
    <pc:docChg chg="modSld">
      <pc:chgData name="LÊ THỊ YẾN NHI" userId="S::nhi231230858@lms.utc.edu.vn::a40cbddc-60fb-4ed3-9a9b-1badc640105c" providerId="AD" clId="Web-{D1784FCE-22CE-A26D-D4FA-D679065A7806}" dt="2025-04-23T05:40:43.565" v="8" actId="20577"/>
      <pc:docMkLst>
        <pc:docMk/>
      </pc:docMkLst>
      <pc:sldChg chg="modSp">
        <pc:chgData name="LÊ THỊ YẾN NHI" userId="S::nhi231230858@lms.utc.edu.vn::a40cbddc-60fb-4ed3-9a9b-1badc640105c" providerId="AD" clId="Web-{D1784FCE-22CE-A26D-D4FA-D679065A7806}" dt="2025-04-23T05:40:43.565" v="8" actId="20577"/>
        <pc:sldMkLst>
          <pc:docMk/>
          <pc:sldMk cId="1176921796" sldId="258"/>
        </pc:sldMkLst>
        <pc:spChg chg="mod">
          <ac:chgData name="LÊ THỊ YẾN NHI" userId="S::nhi231230858@lms.utc.edu.vn::a40cbddc-60fb-4ed3-9a9b-1badc640105c" providerId="AD" clId="Web-{D1784FCE-22CE-A26D-D4FA-D679065A7806}" dt="2025-04-23T05:40:43.565" v="8" actId="20577"/>
          <ac:spMkLst>
            <pc:docMk/>
            <pc:sldMk cId="1176921796" sldId="258"/>
            <ac:spMk id="3" creationId="{CAD34EBB-1163-CF84-E8A8-ACA095BBC534}"/>
          </ac:spMkLst>
        </pc:spChg>
      </pc:sldChg>
    </pc:docChg>
  </pc:docChgLst>
  <pc:docChgLst>
    <pc:chgData name="ĐỖ ĐỨC MINH QUANG" userId="S::quang231230876@lms.utc.edu.vn::ed50321c-8b14-4eb3-88f6-243f32335397" providerId="AD" clId="Web-{0E24115C-9114-1038-4CA1-A23E304D01B8}"/>
    <pc:docChg chg="modSld">
      <pc:chgData name="ĐỖ ĐỨC MINH QUANG" userId="S::quang231230876@lms.utc.edu.vn::ed50321c-8b14-4eb3-88f6-243f32335397" providerId="AD" clId="Web-{0E24115C-9114-1038-4CA1-A23E304D01B8}" dt="2025-04-17T09:36:58.873" v="26" actId="20577"/>
      <pc:docMkLst>
        <pc:docMk/>
      </pc:docMkLst>
      <pc:sldChg chg="modSp">
        <pc:chgData name="ĐỖ ĐỨC MINH QUANG" userId="S::quang231230876@lms.utc.edu.vn::ed50321c-8b14-4eb3-88f6-243f32335397" providerId="AD" clId="Web-{0E24115C-9114-1038-4CA1-A23E304D01B8}" dt="2025-04-17T09:36:58.873" v="26" actId="20577"/>
        <pc:sldMkLst>
          <pc:docMk/>
          <pc:sldMk cId="1088893818" sldId="266"/>
        </pc:sldMkLst>
        <pc:spChg chg="mod">
          <ac:chgData name="ĐỖ ĐỨC MINH QUANG" userId="S::quang231230876@lms.utc.edu.vn::ed50321c-8b14-4eb3-88f6-243f32335397" providerId="AD" clId="Web-{0E24115C-9114-1038-4CA1-A23E304D01B8}" dt="2025-04-17T09:36:58.873" v="26" actId="20577"/>
          <ac:spMkLst>
            <pc:docMk/>
            <pc:sldMk cId="1088893818" sldId="266"/>
            <ac:spMk id="3" creationId="{CC56CFB2-7A08-8161-7615-682FA494E8B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4CF1E-B85C-4DC7-B08D-0EAC08996C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AA420-5E80-477D-88BB-0CC5F42337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53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AA420-5E80-477D-88BB-0CC5F423378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20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4CC6B-A726-A9C3-8452-A25E7FAC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44EE1-51AB-4C0D-B5DD-162355C67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01B75-B19E-6E7E-DF64-03EC4954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6F3D6-DE61-0028-E98F-0F0322A22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AA420-5E80-477D-88BB-0CC5F423378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89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0700945-7014-21E1-0450-A32984F1C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871CEF12-3497-F3DB-A363-FD655EBE4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60A6294-0366-FF9A-7F0A-4BB01E4B2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37907DC-2830-8D76-BC4A-77808FCF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04E003F-0ED5-70F5-9FF6-2F1B5B66B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8671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10C2897-4EEB-57D5-8C7C-41ED1EA26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7FDBCD9-1113-583D-7DAC-60AF2E3D3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A5EA1FD-E0AE-FFB9-C74F-CE361A77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EBD4D50-9539-70E9-DF71-610797F1C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D0AC5DD-9481-747E-0B76-F6648DD7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0230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83B08D08-A62C-72D8-30CD-946C77C7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2E76379-B726-9D93-F275-7E6C026A9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B69D9BD-8BF6-A82C-A18D-C585C581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990E6BA-43DA-6BFC-DC10-37806B39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FB5743C-0DF5-4932-36C9-296F2EFC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78079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DA2AF78-E554-38FE-79B5-2197F858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E889F44B-0AE5-53A0-AD87-001181A44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864A2324-E771-7D47-85E4-9328D1F2A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272E3C03-35BD-4389-CBA9-0D38F91A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512A6E4-B4B1-93A6-55FC-EFA5064F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41B99BA-E9F1-046E-97BA-5132D5EB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018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27FD6CE-721B-3EB9-7FBA-ADECC0EF7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CB81D7D-E837-31D2-959E-39A85599C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C019915-DDE0-3242-058E-01505F6A2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C9C756B3-3FAB-F582-FEF1-DB773D098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A14DDCCC-2136-5CA9-8FBB-A1DD9A052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76402284-50DE-13E3-F2CE-58C7E616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E6571E76-814F-EFBF-C94E-90D1CC3F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E79DD48A-E660-0AB0-F767-73AA6107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03878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2589197-425E-AD14-10F9-E0F25B31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17C157D2-8522-B110-8B37-C1A224CF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E8F10BDE-CFB6-41DE-1711-7DD083ADC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F32F5C4A-4A7A-5E22-8622-552AD06C8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285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FB65F239-BEE9-08E7-DC09-1501B3004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5A82C73-39D5-5A5D-C4F0-B0FF5F361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2B7DE846-D1E3-F0D6-8D0D-F47EE2CE2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8359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45ADF85-9785-2704-16FA-B02DF4199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92822AC-1F69-B5F3-99E8-45E73398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4C2485B-9667-4A0A-45A3-6095BEFC3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E112D87F-DB7C-5E58-5127-5CBE9E2BB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20F4C854-7822-E1F1-0ED7-1ECB03670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7FB961E-1628-47E8-1247-51BC113CC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0866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B03C0C6-3364-2B83-7DE0-9B2A4FB76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D26956F4-3F60-DD39-705F-BA0BBD996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9910D162-29F1-ACF6-8010-34D2ACBDC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D54D3447-ADC8-00DB-D57A-4740E39E5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3AB0054-04BF-7A2F-2D10-EB9272ED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2400032-3092-DE34-BFAA-A002EA43F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7326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D9B0CF4-24E3-00E1-4C5F-9F99D86C6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A4EF998C-0E24-2D89-DEB8-15EC332D6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7AC4893-A556-D1DF-3B8E-8D66BADEF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59C1D83-77A0-271D-2FD3-78FAABCE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9C6684E-6F61-F40E-D2DB-FFA9DD42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2082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7DB8C5C2-60FF-78A7-1159-F43E86827D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564D1CDA-5FE1-3527-C0EA-E1B92646C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D1BC251-5862-F44B-FFAC-EDBA024A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45ED8AC-50EB-A1DD-BE65-36D9D18D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7FC8C8A-5D93-642C-F5DA-058899751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8921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482D9E0D-AFC6-1173-9F2F-3BF366A88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6471836-D4FD-263A-48C8-D28E6AA8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DAFC406-5592-C986-825C-5736B81DDA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8227C-7723-41C9-9A78-69F636312D8C}" type="datetimeFigureOut">
              <a:rPr lang="vi-VN" smtClean="0"/>
              <a:t>30/04/2026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30BF807-520A-8310-0719-F9C735720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8AE6A7BA-DEB7-AEE7-A952-3B4CA6B3E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5454D1-B1E9-4381-A49D-B801BE859F2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7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275F844-A6EE-65EA-5924-FD563C591BA6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B9F4F077-1E16-F122-3848-3C8D421D1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C87371D0-E302-DFC7-A62F-F55F1C4383A1}"/>
              </a:ext>
            </a:extLst>
          </p:cNvPr>
          <p:cNvSpPr txBox="1"/>
          <p:nvPr/>
        </p:nvSpPr>
        <p:spPr>
          <a:xfrm>
            <a:off x="2161042" y="1456453"/>
            <a:ext cx="74157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BÁO CÁO 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TỔNG KẾT NCKH </a:t>
            </a:r>
          </a:p>
          <a:p>
            <a:pPr algn="ctr"/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NĂM HỌC 2025-2026</a:t>
            </a:r>
            <a:endParaRPr lang="vi-VN" sz="4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vi-VN" sz="40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333F329-3A47-1278-EE13-1D4FA454CA52}"/>
              </a:ext>
            </a:extLst>
          </p:cNvPr>
          <p:cNvSpPr txBox="1"/>
          <p:nvPr/>
        </p:nvSpPr>
        <p:spPr>
          <a:xfrm>
            <a:off x="4992614" y="3245077"/>
            <a:ext cx="503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 TÀI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76C8BB5-88A7-3461-1484-C43816324835}"/>
              </a:ext>
            </a:extLst>
          </p:cNvPr>
          <p:cNvSpPr txBox="1"/>
          <p:nvPr/>
        </p:nvSpPr>
        <p:spPr>
          <a:xfrm>
            <a:off x="900080" y="4062637"/>
            <a:ext cx="112919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 THỐNG ĐIỀU KHIỂN THIẾT BỊ NGOẠI VI TỪ XA SỬ DỤNG ESP32 KẾT HỢP GIAO DIỆN WEB VÀ NHẬN DẠNG CỬ CHỈ TỪ WEBCAM</a:t>
            </a:r>
            <a:r>
              <a:rPr lang="vi-VN" sz="4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419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0CDA-6865-9FAD-D938-CD66F90C2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F977FF2-2F54-4AAE-D17D-B70D71FACAFB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ADFFC9F4-CCD5-1C92-4700-A52C68F39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42945080-F5C4-1568-855E-BD1F983BE06F}"/>
              </a:ext>
            </a:extLst>
          </p:cNvPr>
          <p:cNvSpPr txBox="1"/>
          <p:nvPr/>
        </p:nvSpPr>
        <p:spPr>
          <a:xfrm>
            <a:off x="261678" y="1430617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021F5D3E-E2BC-45AA-B671-66D633D4336A}"/>
              </a:ext>
            </a:extLst>
          </p:cNvPr>
          <p:cNvSpPr txBox="1"/>
          <p:nvPr/>
        </p:nvSpPr>
        <p:spPr>
          <a:xfrm>
            <a:off x="261678" y="2429808"/>
            <a:ext cx="10130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A6D0BAE5-067B-69EC-0874-E1D8DC619528}"/>
              </a:ext>
            </a:extLst>
          </p:cNvPr>
          <p:cNvSpPr txBox="1"/>
          <p:nvPr/>
        </p:nvSpPr>
        <p:spPr>
          <a:xfrm>
            <a:off x="261678" y="3429000"/>
            <a:ext cx="9017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Hộp Văn bản 1">
            <a:extLst>
              <a:ext uri="{FF2B5EF4-FFF2-40B4-BE49-F238E27FC236}">
                <a16:creationId xmlns:a16="http://schemas.microsoft.com/office/drawing/2014/main" id="{C2FE3169-BBE3-35CA-0834-06C6FF94997C}"/>
              </a:ext>
            </a:extLst>
          </p:cNvPr>
          <p:cNvSpPr txBox="1"/>
          <p:nvPr/>
        </p:nvSpPr>
        <p:spPr>
          <a:xfrm>
            <a:off x="261678" y="4428192"/>
            <a:ext cx="10447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IV. KẾT LUẬN VÀ HƯỚNG PHÁT TRIỂN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771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D3615-FD1F-A51B-587B-B5046BCF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EECD0C3F-1BED-5930-06A1-10B8D68FF26A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2EC7CE8F-6924-D796-C5A2-3D239A48E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1FF4E0E4-FD67-BE30-17E3-BD817CE63FF4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9393EC21-84CC-7792-9B75-2D904C716AC1}"/>
              </a:ext>
            </a:extLst>
          </p:cNvPr>
          <p:cNvSpPr txBox="1"/>
          <p:nvPr/>
        </p:nvSpPr>
        <p:spPr>
          <a:xfrm>
            <a:off x="421238" y="1903489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Hộp Văn bản 1">
            <a:extLst>
              <a:ext uri="{FF2B5EF4-FFF2-40B4-BE49-F238E27FC236}">
                <a16:creationId xmlns:a16="http://schemas.microsoft.com/office/drawing/2014/main" id="{5E62B22B-8C87-38CF-3264-3CAE1F91DB2B}"/>
              </a:ext>
            </a:extLst>
          </p:cNvPr>
          <p:cNvSpPr txBox="1"/>
          <p:nvPr/>
        </p:nvSpPr>
        <p:spPr>
          <a:xfrm>
            <a:off x="421238" y="2815257"/>
            <a:ext cx="10741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nội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dung,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pháp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Hộp Văn bản 1">
            <a:extLst>
              <a:ext uri="{FF2B5EF4-FFF2-40B4-BE49-F238E27FC236}">
                <a16:creationId xmlns:a16="http://schemas.microsoft.com/office/drawing/2014/main" id="{C6E60A74-FEE1-1DFE-1FA4-E8C80D549BF0}"/>
              </a:ext>
            </a:extLst>
          </p:cNvPr>
          <p:cNvSpPr txBox="1"/>
          <p:nvPr/>
        </p:nvSpPr>
        <p:spPr>
          <a:xfrm>
            <a:off x="378278" y="3727026"/>
            <a:ext cx="99746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1.3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Đối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tượng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phạm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44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76B6E-D971-73AF-DF4A-62FA567D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D7B6A88-1E1D-D417-2B00-4D4203EFD833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C656D37B-DA77-F1A5-AD3B-0CB9B32D9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D4E64E69-9FA4-B373-FE99-4C3DD640FFD5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3388A44F-83B4-6F22-E192-7A1FB418989B}"/>
              </a:ext>
            </a:extLst>
          </p:cNvPr>
          <p:cNvSpPr txBox="1"/>
          <p:nvPr/>
        </p:nvSpPr>
        <p:spPr>
          <a:xfrm>
            <a:off x="126666" y="1161288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FD980-DA61-BAC7-A001-6C2DF9D42607}"/>
              </a:ext>
            </a:extLst>
          </p:cNvPr>
          <p:cNvSpPr txBox="1"/>
          <p:nvPr/>
        </p:nvSpPr>
        <p:spPr>
          <a:xfrm>
            <a:off x="126666" y="1950069"/>
            <a:ext cx="11200937" cy="17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vi-VN" b="1" dirty="0"/>
              <a:t>Xu hướng Công nghiệp 4.0:</a:t>
            </a:r>
            <a:r>
              <a:rPr lang="vi-VN" dirty="0"/>
              <a:t> Hệ thống IoT chuyển mình từ "thu thập dữ liệu" sang "hiểu và tương tác thông minh“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r>
              <a:rPr lang="vi-VN" b="1" dirty="0"/>
              <a:t>Thị giác máy tính trên hệ nhúng:</a:t>
            </a:r>
            <a:r>
              <a:rPr lang="vi-VN" dirty="0"/>
              <a:t> Không còn là bài toán xa xỉ, trở thành yêu cầu thiết yếu để nâng cao trải nghiệm người dùng.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768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82F9F-E9A6-BAA7-4D86-4A909FD4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83BEE3A-696E-D9BA-2F2F-056311C7AAE2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F4AF06B7-0824-3985-21A5-C2A2A4EE4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9F92E403-7C12-3CD5-82C4-0851356282AB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09C8B842-A31C-D877-084D-DC054A6F03CB}"/>
              </a:ext>
            </a:extLst>
          </p:cNvPr>
          <p:cNvSpPr txBox="1"/>
          <p:nvPr/>
        </p:nvSpPr>
        <p:spPr>
          <a:xfrm>
            <a:off x="126666" y="1161288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A9385-AE22-3531-7748-B43A4F09E07C}"/>
              </a:ext>
            </a:extLst>
          </p:cNvPr>
          <p:cNvSpPr txBox="1"/>
          <p:nvPr/>
        </p:nvSpPr>
        <p:spPr>
          <a:xfrm>
            <a:off x="126666" y="1656967"/>
            <a:ext cx="6519611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LÍ DO 1: </a:t>
            </a:r>
          </a:p>
          <a:p>
            <a:pPr>
              <a:lnSpc>
                <a:spcPct val="150000"/>
              </a:lnSpc>
            </a:pPr>
            <a:r>
              <a:rPr lang="vi-VN" sz="2000" b="1" dirty="0"/>
              <a:t>Tối ưu Phần cứng</a:t>
            </a:r>
            <a:r>
              <a:rPr lang="en-US" b="1" dirty="0"/>
              <a:t>: </a:t>
            </a:r>
            <a:r>
              <a:rPr lang="fr-FR" sz="2000" dirty="0" err="1"/>
              <a:t>Chiến</a:t>
            </a:r>
            <a:r>
              <a:rPr lang="fr-FR" sz="2000" dirty="0"/>
              <a:t> </a:t>
            </a:r>
            <a:r>
              <a:rPr lang="fr-FR" sz="2000" dirty="0" err="1"/>
              <a:t>lược</a:t>
            </a:r>
            <a:r>
              <a:rPr lang="fr-FR" sz="2000" dirty="0"/>
              <a:t> </a:t>
            </a:r>
            <a:r>
              <a:rPr lang="fr-FR" sz="2000" dirty="0" err="1"/>
              <a:t>từ</a:t>
            </a:r>
            <a:r>
              <a:rPr lang="fr-FR" sz="2000" dirty="0"/>
              <a:t> Module ESP32</a:t>
            </a:r>
          </a:p>
          <a:p>
            <a:pPr>
              <a:lnSpc>
                <a:spcPct val="150000"/>
              </a:lnSpc>
            </a:pPr>
            <a:r>
              <a:rPr lang="en-US" dirty="0"/>
              <a:t>Khả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Wi-Fi, Bluetooth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mẽ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,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vi-VN" b="1" dirty="0"/>
              <a:t>Giải pháp lý tưởng:</a:t>
            </a:r>
            <a:r>
              <a:rPr lang="vi-VN" dirty="0"/>
              <a:t> Phá vỡ rào cản chi phí trong việc triển khai các hệ thống Smart Home quy mô lớn hiện nay.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endParaRPr lang="vi-VN" b="1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1CB7B3-17F3-08A7-3FC3-5CF34D348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678" y="2382429"/>
            <a:ext cx="4646670" cy="26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2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C7F1E-E16A-30C9-0154-8742399D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22D14A4-3F9E-231A-71CE-2ECA65B0ADA2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73910CD2-81D1-1847-7524-D3B47D127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C445A201-81B9-925A-C281-62EDF2A63985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9D043938-883E-5689-0A2F-7F7D3E993E65}"/>
              </a:ext>
            </a:extLst>
          </p:cNvPr>
          <p:cNvSpPr txBox="1"/>
          <p:nvPr/>
        </p:nvSpPr>
        <p:spPr>
          <a:xfrm>
            <a:off x="126666" y="1161288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ABB49-2C18-8BD4-EF85-51B5BED3DD1B}"/>
              </a:ext>
            </a:extLst>
          </p:cNvPr>
          <p:cNvSpPr txBox="1"/>
          <p:nvPr/>
        </p:nvSpPr>
        <p:spPr>
          <a:xfrm>
            <a:off x="126666" y="1651911"/>
            <a:ext cx="11140706" cy="4853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LÍ DO 2: </a:t>
            </a:r>
            <a:r>
              <a:rPr lang="en-US" sz="2800" b="1" dirty="0" err="1"/>
              <a:t>Đột</a:t>
            </a:r>
            <a:r>
              <a:rPr lang="en-US" sz="2800" b="1" dirty="0"/>
              <a:t> </a:t>
            </a:r>
            <a:r>
              <a:rPr lang="en-US" sz="2800" b="1" dirty="0" err="1"/>
              <a:t>phá</a:t>
            </a:r>
            <a:r>
              <a:rPr lang="en-US" sz="2800" b="1" dirty="0"/>
              <a:t> </a:t>
            </a:r>
            <a:r>
              <a:rPr lang="en-US" sz="2800" b="1" dirty="0" err="1"/>
              <a:t>trong</a:t>
            </a:r>
            <a:r>
              <a:rPr lang="en-US" sz="2800" b="1" dirty="0"/>
              <a:t> </a:t>
            </a:r>
            <a:r>
              <a:rPr lang="en-US" sz="2800" b="1" dirty="0" err="1"/>
              <a:t>tương</a:t>
            </a:r>
            <a:r>
              <a:rPr lang="en-US" sz="2800" b="1" dirty="0"/>
              <a:t> </a:t>
            </a:r>
            <a:r>
              <a:rPr lang="en-US" sz="2800" b="1" dirty="0" err="1"/>
              <a:t>tác</a:t>
            </a:r>
            <a:r>
              <a:rPr lang="en-US" sz="2800" b="1" dirty="0"/>
              <a:t> </a:t>
            </a:r>
          </a:p>
          <a:p>
            <a:pPr>
              <a:lnSpc>
                <a:spcPct val="150000"/>
              </a:lnSpc>
            </a:pPr>
            <a:r>
              <a:rPr lang="vi-VN" b="1" dirty="0"/>
              <a:t>Hỗ trợ Người khuyết tật</a:t>
            </a:r>
            <a:r>
              <a:rPr lang="en-US" b="1" dirty="0"/>
              <a:t>: </a:t>
            </a:r>
            <a:r>
              <a:rPr lang="vi-VN" dirty="0"/>
              <a:t>Phương thức điều khiển không phụ thuộc vào cầm nắm, hỗ trợ hòa nhập cho người hạn chế vận động.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vi-VN" b="1" dirty="0"/>
              <a:t>Môi trường Vô trùng:</a:t>
            </a:r>
            <a:r>
              <a:rPr lang="vi-VN" dirty="0"/>
              <a:t> </a:t>
            </a:r>
            <a:r>
              <a:rPr lang="en-US" dirty="0"/>
              <a:t>Trong y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rủi</a:t>
            </a:r>
            <a:r>
              <a:rPr lang="en-US" dirty="0"/>
              <a:t> </a:t>
            </a:r>
            <a:r>
              <a:rPr lang="en-US" dirty="0" err="1"/>
              <a:t>ro</a:t>
            </a:r>
            <a:r>
              <a:rPr lang="en-US" dirty="0"/>
              <a:t> </a:t>
            </a:r>
            <a:r>
              <a:rPr lang="en-US" dirty="0" err="1"/>
              <a:t>lây</a:t>
            </a:r>
            <a:r>
              <a:rPr lang="en-US" dirty="0"/>
              <a:t> </a:t>
            </a:r>
            <a:r>
              <a:rPr lang="en-US" dirty="0" err="1"/>
              <a:t>nhiễm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Nâng </a:t>
            </a:r>
            <a:r>
              <a:rPr lang="en-US" b="1" dirty="0" err="1"/>
              <a:t>tầm</a:t>
            </a:r>
            <a:r>
              <a:rPr lang="en-US" b="1" dirty="0"/>
              <a:t> Trải </a:t>
            </a:r>
            <a:r>
              <a:rPr lang="en-US" b="1" dirty="0" err="1"/>
              <a:t>nghiệm</a:t>
            </a:r>
            <a:r>
              <a:rPr lang="en-US" b="1" dirty="0"/>
              <a:t>: </a:t>
            </a:r>
            <a:r>
              <a:rPr lang="vi-VN" dirty="0"/>
              <a:t>Loại bỏ phụ thuộc thiết bị trung gian, tạo ra phong cách sống hiện đại và đột phá cho người sử dụng.</a:t>
            </a:r>
            <a:endParaRPr lang="en-US" b="1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endParaRPr lang="vi-VN" b="1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74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A6096-1C58-308F-314A-D47899114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48C22FE-AF44-73DA-D3BC-8F443DE9657C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6A65C12B-6C4E-BE16-2486-8D98B878D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D27F48E4-89C9-DD7F-F672-9D90BA34EE77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B9E7429F-5483-2C07-DE0B-6F8604C17411}"/>
              </a:ext>
            </a:extLst>
          </p:cNvPr>
          <p:cNvSpPr txBox="1"/>
          <p:nvPr/>
        </p:nvSpPr>
        <p:spPr>
          <a:xfrm>
            <a:off x="126666" y="1161288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đề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tài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77E243-8C9E-49A8-C8E9-4271CFF2DEFA}"/>
              </a:ext>
            </a:extLst>
          </p:cNvPr>
          <p:cNvSpPr txBox="1"/>
          <p:nvPr/>
        </p:nvSpPr>
        <p:spPr>
          <a:xfrm>
            <a:off x="126666" y="1951007"/>
            <a:ext cx="10889093" cy="374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LÍ DO 3: THÁCH THỨC VÀ CƠ HỘI</a:t>
            </a:r>
          </a:p>
          <a:p>
            <a:r>
              <a:rPr lang="vi-VN" b="1" dirty="0"/>
              <a:t>Bài toán Kỹ thuật cao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Xử lý hình ảnh thời gian thực trên phần cứng hạn chế tài nguyên.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Tối ưu hóa độ trễ thông qua giao thức </a:t>
            </a:r>
            <a:r>
              <a:rPr lang="vi-VN" b="1" dirty="0"/>
              <a:t>MQTT</a:t>
            </a:r>
            <a:r>
              <a:rPr lang="vi-V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Đưa các thuật toán AI phức tạp vào ứng dụng thực tiễn trên hệ thống nhúng.</a:t>
            </a:r>
          </a:p>
          <a:p>
            <a:r>
              <a:rPr lang="vi-VN" dirty="0"/>
              <a:t>Nghiên cứu này là bước thực nghiệm quan trọng giúp nhóm hoàn thiện kỹ năng làm chủ công nghệ cao.</a:t>
            </a:r>
          </a:p>
          <a:p>
            <a:pPr>
              <a:lnSpc>
                <a:spcPct val="150000"/>
              </a:lnSpc>
            </a:pPr>
            <a:endParaRPr lang="fr-FR" dirty="0"/>
          </a:p>
          <a:p>
            <a:pPr>
              <a:lnSpc>
                <a:spcPct val="150000"/>
              </a:lnSpc>
            </a:pPr>
            <a:endParaRPr lang="fr-FR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endParaRPr lang="vi-VN" b="1" dirty="0"/>
          </a:p>
          <a:p>
            <a:pPr marL="285750" indent="-285750">
              <a:lnSpc>
                <a:spcPct val="150000"/>
              </a:lnSpc>
              <a:buFont typeface="Wingdings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A445D-C4C6-20DA-A730-B7F8288B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1324003-92F2-6966-C8B7-73BF8B9D1410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CF464871-50ED-45B9-C6CE-C315B55458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F667113D-58BF-2B31-9131-4E8F9B835AD6}"/>
              </a:ext>
            </a:extLst>
          </p:cNvPr>
          <p:cNvSpPr txBox="1"/>
          <p:nvPr/>
        </p:nvSpPr>
        <p:spPr>
          <a:xfrm>
            <a:off x="645456" y="3270667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nội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dung,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phương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pháp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7BE866CA-A2B4-C0D7-3433-0724F2EF0126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921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77EF3-7088-81F4-2D44-E14EDAB55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4F104AB9-BAA0-3697-7F64-0CB1F705B464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CF0761B4-A26F-8CFC-4564-D65A7DBDF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1C4F2757-8405-7D6E-66D5-F570CFCE1694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Hộp Văn bản 1">
            <a:extLst>
              <a:ext uri="{FF2B5EF4-FFF2-40B4-BE49-F238E27FC236}">
                <a16:creationId xmlns:a16="http://schemas.microsoft.com/office/drawing/2014/main" id="{3C5A7676-0CE2-27A2-D995-093FB29ECE7B}"/>
              </a:ext>
            </a:extLst>
          </p:cNvPr>
          <p:cNvSpPr txBox="1"/>
          <p:nvPr/>
        </p:nvSpPr>
        <p:spPr>
          <a:xfrm>
            <a:off x="56312" y="1089652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Mục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tiêu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Hộp Văn bản 6">
            <a:extLst>
              <a:ext uri="{FF2B5EF4-FFF2-40B4-BE49-F238E27FC236}">
                <a16:creationId xmlns:a16="http://schemas.microsoft.com/office/drawing/2014/main" id="{329063F8-6574-2AE5-0B09-244D68C8825F}"/>
              </a:ext>
            </a:extLst>
          </p:cNvPr>
          <p:cNvSpPr txBox="1"/>
          <p:nvPr/>
        </p:nvSpPr>
        <p:spPr>
          <a:xfrm>
            <a:off x="56312" y="1523010"/>
            <a:ext cx="10627961" cy="24118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buSzPct val="100000"/>
            </a:pPr>
            <a:r>
              <a:rPr lang="en-US" sz="3400" dirty="0" err="1">
                <a:latin typeface="Calibri"/>
                <a:ea typeface="Calibri"/>
                <a:cs typeface="Calibri"/>
              </a:rPr>
              <a:t>Mục</a:t>
            </a:r>
            <a:r>
              <a:rPr lang="en-US" sz="3400" dirty="0">
                <a:latin typeface="Calibri"/>
                <a:ea typeface="Calibri"/>
                <a:cs typeface="Calibri"/>
              </a:rPr>
              <a:t> </a:t>
            </a:r>
            <a:r>
              <a:rPr lang="en-US" sz="3400" dirty="0" err="1">
                <a:latin typeface="Calibri"/>
                <a:ea typeface="Calibri"/>
                <a:cs typeface="Calibri"/>
              </a:rPr>
              <a:t>tiêu</a:t>
            </a:r>
            <a:r>
              <a:rPr lang="en-US" sz="3400" dirty="0">
                <a:latin typeface="Calibri"/>
                <a:ea typeface="Calibri"/>
                <a:cs typeface="Calibri"/>
              </a:rPr>
              <a:t> </a:t>
            </a:r>
            <a:r>
              <a:rPr lang="en-US" sz="3400" dirty="0" err="1">
                <a:latin typeface="Calibri"/>
                <a:ea typeface="Calibri"/>
                <a:cs typeface="Calibri"/>
              </a:rPr>
              <a:t>tổng</a:t>
            </a:r>
            <a:r>
              <a:rPr lang="en-US" sz="3400" dirty="0">
                <a:latin typeface="Calibri"/>
                <a:ea typeface="Calibri"/>
                <a:cs typeface="Calibri"/>
              </a:rPr>
              <a:t> </a:t>
            </a:r>
            <a:r>
              <a:rPr lang="en-US" sz="3400" dirty="0" err="1">
                <a:latin typeface="Calibri"/>
                <a:ea typeface="Calibri"/>
                <a:cs typeface="Calibri"/>
              </a:rPr>
              <a:t>quát</a:t>
            </a:r>
            <a:r>
              <a:rPr lang="en-US" sz="3400" dirty="0">
                <a:latin typeface="Calibri"/>
                <a:ea typeface="Calibri"/>
                <a:cs typeface="Calibri"/>
              </a:rPr>
              <a:t>:</a:t>
            </a:r>
          </a:p>
          <a:p>
            <a:pPr>
              <a:lnSpc>
                <a:spcPct val="150000"/>
              </a:lnSpc>
              <a:buSzPct val="100000"/>
            </a:pPr>
            <a:r>
              <a:rPr lang="vi-VN" dirty="0"/>
              <a:t>Nghiên cứu, thiết kế và triển khai hệ thống điều khiển thông minh qua </a:t>
            </a:r>
            <a:r>
              <a:rPr lang="vi-VN" b="1" dirty="0"/>
              <a:t>ESP32</a:t>
            </a:r>
            <a:r>
              <a:rPr lang="vi-VN" dirty="0"/>
              <a:t>, ứng dụng </a:t>
            </a:r>
            <a:r>
              <a:rPr lang="vi-VN" b="1" dirty="0"/>
              <a:t>Thị giác máy tính</a:t>
            </a:r>
            <a:r>
              <a:rPr lang="vi-VN" dirty="0"/>
              <a:t> nhận diện cử chỉ tay thời gian thực nhằm thay thế phương thức vật lý truyền thống.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50000"/>
              </a:lnSpc>
              <a:buSzPct val="100000"/>
            </a:pPr>
            <a:endParaRPr lang="vi-VN" sz="3400" dirty="0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97DCC2-EFF6-D111-B215-A942526C9232}"/>
              </a:ext>
            </a:extLst>
          </p:cNvPr>
          <p:cNvSpPr txBox="1"/>
          <p:nvPr/>
        </p:nvSpPr>
        <p:spPr>
          <a:xfrm>
            <a:off x="245476" y="3334724"/>
            <a:ext cx="800857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Thiết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hạ</a:t>
            </a:r>
            <a:r>
              <a:rPr lang="en-US" b="1" dirty="0"/>
              <a:t> </a:t>
            </a:r>
            <a:r>
              <a:rPr lang="en-US" b="1" dirty="0" err="1"/>
              <a:t>tầng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Truyền</a:t>
            </a:r>
            <a:r>
              <a:rPr lang="en-US" dirty="0"/>
              <a:t> tin qua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MQTT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Tối ưu thuật toán:</a:t>
            </a:r>
            <a:r>
              <a:rPr lang="vi-VN" dirty="0"/>
              <a:t> Tinh chỉnh MediaPipe đạt độ chính xác cao trong mọi ánh sáng.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Giao diện tương tác:</a:t>
            </a:r>
            <a:r>
              <a:rPr lang="vi-VN" dirty="0"/>
              <a:t> Dashboard trực quan, tích hợp luồng video (stream) thực tế.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chứng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trễ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362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F71A5-3706-C33A-9C29-12F14C347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2D3F364-549A-44CD-D354-52710DFE5F5A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012C4610-02A1-29CB-8C28-455EFC173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147F3253-5071-30C6-B0CB-47C5143AD6E9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Hộp Văn bản 1">
            <a:extLst>
              <a:ext uri="{FF2B5EF4-FFF2-40B4-BE49-F238E27FC236}">
                <a16:creationId xmlns:a16="http://schemas.microsoft.com/office/drawing/2014/main" id="{AE1CBF12-0920-112E-AB01-2D5765B7EC1B}"/>
              </a:ext>
            </a:extLst>
          </p:cNvPr>
          <p:cNvSpPr txBox="1"/>
          <p:nvPr/>
        </p:nvSpPr>
        <p:spPr>
          <a:xfrm>
            <a:off x="56312" y="1089652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Nội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dung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37BB31-4DC8-EA4F-F6B9-84C22D3603ED}"/>
              </a:ext>
            </a:extLst>
          </p:cNvPr>
          <p:cNvSpPr txBox="1"/>
          <p:nvPr/>
        </p:nvSpPr>
        <p:spPr>
          <a:xfrm>
            <a:off x="56312" y="1871759"/>
            <a:ext cx="71852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cứng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ESP32 </a:t>
            </a:r>
            <a:r>
              <a:rPr lang="en-US" dirty="0" err="1"/>
              <a:t>và</a:t>
            </a:r>
            <a:r>
              <a:rPr lang="en-US" dirty="0"/>
              <a:t> module Relay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Firmware</a:t>
            </a:r>
            <a:r>
              <a:rPr lang="vi-VN" b="1" dirty="0"/>
              <a:t>:</a:t>
            </a:r>
            <a:r>
              <a:rPr lang="vi-VN" dirty="0"/>
              <a:t> 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MQTT </a:t>
            </a:r>
            <a:r>
              <a:rPr lang="en-US" dirty="0" err="1"/>
              <a:t>trên</a:t>
            </a:r>
            <a:r>
              <a:rPr lang="en-US" dirty="0"/>
              <a:t> vi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ảnh</a:t>
            </a:r>
            <a:r>
              <a:rPr lang="vi-VN" b="1" dirty="0"/>
              <a:t>:</a:t>
            </a:r>
            <a:r>
              <a:rPr lang="vi-VN" dirty="0"/>
              <a:t> 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MediaPipe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cử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(</a:t>
            </a:r>
            <a:r>
              <a:rPr lang="en-US" dirty="0" err="1"/>
              <a:t>đóng</a:t>
            </a:r>
            <a:r>
              <a:rPr lang="en-US" dirty="0"/>
              <a:t>/</a:t>
            </a:r>
            <a:r>
              <a:rPr lang="en-US" dirty="0" err="1"/>
              <a:t>mở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ngón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Web Server:</a:t>
            </a:r>
            <a:r>
              <a:rPr lang="en-US" dirty="0"/>
              <a:t> 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Web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Dashboard </a:t>
            </a:r>
            <a:r>
              <a:rPr lang="en-US" dirty="0" err="1"/>
              <a:t>và</a:t>
            </a:r>
            <a:r>
              <a:rPr lang="en-US" dirty="0"/>
              <a:t> Video Stream.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Tích </a:t>
            </a:r>
            <a:r>
              <a:rPr lang="en-US" b="1" dirty="0" err="1"/>
              <a:t>hợp</a:t>
            </a:r>
            <a:r>
              <a:rPr lang="en-US" b="1" dirty="0"/>
              <a:t>: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đạc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3898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6BF18-7DE9-698E-BECD-5398E328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BC2F4ED-9456-E1CA-24C1-297257E6912F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0C6DB799-8856-8B93-6A2E-6D1FB8C2D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723FDF42-6B20-9536-815E-CC22BAC7AE2F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Hộp Văn bản 1">
            <a:extLst>
              <a:ext uri="{FF2B5EF4-FFF2-40B4-BE49-F238E27FC236}">
                <a16:creationId xmlns:a16="http://schemas.microsoft.com/office/drawing/2014/main" id="{C4D5DECF-36AE-9A5B-3B85-AAF96E5BE667}"/>
              </a:ext>
            </a:extLst>
          </p:cNvPr>
          <p:cNvSpPr txBox="1"/>
          <p:nvPr/>
        </p:nvSpPr>
        <p:spPr>
          <a:xfrm>
            <a:off x="251675" y="1161288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 Phương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pháp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nghiên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23691B-886D-C3A1-F0DA-C806DA6FD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288946"/>
              </p:ext>
            </p:extLst>
          </p:nvPr>
        </p:nvGraphicFramePr>
        <p:xfrm>
          <a:off x="276161" y="1822663"/>
          <a:ext cx="11537395" cy="4449261"/>
        </p:xfrm>
        <a:graphic>
          <a:graphicData uri="http://schemas.openxmlformats.org/drawingml/2006/table">
            <a:tbl>
              <a:tblPr/>
              <a:tblGrid>
                <a:gridCol w="5546666">
                  <a:extLst>
                    <a:ext uri="{9D8B030D-6E8A-4147-A177-3AD203B41FA5}">
                      <a16:colId xmlns:a16="http://schemas.microsoft.com/office/drawing/2014/main" val="2409141975"/>
                    </a:ext>
                  </a:extLst>
                </a:gridCol>
                <a:gridCol w="5990729">
                  <a:extLst>
                    <a:ext uri="{9D8B030D-6E8A-4147-A177-3AD203B41FA5}">
                      <a16:colId xmlns:a16="http://schemas.microsoft.com/office/drawing/2014/main" val="2182724845"/>
                    </a:ext>
                  </a:extLst>
                </a:gridCol>
              </a:tblGrid>
              <a:tr h="6096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Phương pháp</a:t>
                      </a:r>
                      <a:endParaRPr lang="vi-V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Nội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dung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triển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khai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163019"/>
                  </a:ext>
                </a:extLst>
              </a:tr>
              <a:tr h="9598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Thực nghiệm (Experimental)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Xây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dựng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mô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hình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vật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lý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Prototype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để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kiểm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chứng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lý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thuyết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và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các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thông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số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thiết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kế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thực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tế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830245"/>
                  </a:ext>
                </a:extLst>
              </a:tr>
              <a:tr h="9598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Mô hình hóa (Modeling)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Sử dụng sơ đồ khối, sơ đồ luồng dữ liệu (Data Flow) để thiết kế kiến trúc phần mềm và phần cứng.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708010"/>
                  </a:ext>
                </a:extLst>
              </a:tr>
              <a:tr h="9598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 sánh &amp; Tối ưu hóa</a:t>
                      </a:r>
                      <a:endParaRPr lang="vi-V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Thử nghiệm với các ngưỡng khoảng cách và điều kiện ánh sáng khác nhau để chọn tham số tối ưu cho AI.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2420500"/>
                  </a:ext>
                </a:extLst>
              </a:tr>
              <a:tr h="95989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Thử nghiệm thực tế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Đánh giá độ trễ và khả năng đáp ứng của hệ thống trong môi trường mạng thực tế (Field Testing).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241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609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9AE8-5216-CF47-DC52-476ADF096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F1F0326-7518-5976-7DE8-1E17BBDADD26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66D1A840-5A6E-AD78-F3EB-7D481844F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7572F44-DB26-1ED6-FFA1-DB1C73AFF18D}"/>
              </a:ext>
            </a:extLst>
          </p:cNvPr>
          <p:cNvSpPr txBox="1"/>
          <p:nvPr/>
        </p:nvSpPr>
        <p:spPr>
          <a:xfrm>
            <a:off x="1345064" y="3166339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ĐỐI TƯỢNG VÀ PHẠM VI NGHIÊN 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CF071173-C325-DD0F-22C4-094665DB06A6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8116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81F7C-F477-CAAF-199E-A35583BF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F235545-7B11-C738-9D8E-0C311892A20F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175CCFBC-A8DE-18E3-28AD-5BD790E48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49654537-3D7C-C75D-03D7-5DA7185FF8E5}"/>
              </a:ext>
            </a:extLst>
          </p:cNvPr>
          <p:cNvSpPr txBox="1"/>
          <p:nvPr/>
        </p:nvSpPr>
        <p:spPr>
          <a:xfrm>
            <a:off x="0" y="1161288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3.1. ĐỐI TƯỢNG NGHIÊN 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0097EB9C-CF9E-EF27-76BA-3A9B57F2BEB7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073A5A-7473-41C4-52EC-E8C91026AC2B}"/>
              </a:ext>
            </a:extLst>
          </p:cNvPr>
          <p:cNvSpPr txBox="1"/>
          <p:nvPr/>
        </p:nvSpPr>
        <p:spPr>
          <a:xfrm>
            <a:off x="239338" y="1869172"/>
            <a:ext cx="108132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khiển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(ESP32, Relay)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(Giao </a:t>
            </a:r>
            <a:r>
              <a:rPr lang="en-US" dirty="0" err="1"/>
              <a:t>thức</a:t>
            </a:r>
            <a:r>
              <a:rPr lang="en-US" dirty="0"/>
              <a:t> MQTT, Web Server)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vi.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Thị </a:t>
            </a:r>
            <a:r>
              <a:rPr lang="en-US" b="1" dirty="0" err="1"/>
              <a:t>giác</a:t>
            </a:r>
            <a:r>
              <a:rPr lang="en-US" b="1" dirty="0"/>
              <a:t> </a:t>
            </a:r>
            <a:r>
              <a:rPr lang="en-US" b="1" dirty="0" err="1"/>
              <a:t>máy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vi-VN" b="1" dirty="0"/>
              <a:t>:</a:t>
            </a:r>
            <a:r>
              <a:rPr lang="vi-VN" dirty="0"/>
              <a:t> Các mô hình nhận diện điểm mốc bàn tay (Hand Landmarks) sử dụng thư viện </a:t>
            </a:r>
            <a:r>
              <a:rPr lang="vi-VN" b="1" dirty="0"/>
              <a:t>MediaPipe</a:t>
            </a:r>
            <a:r>
              <a:rPr lang="vi-VN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Tín</a:t>
            </a:r>
            <a:r>
              <a:rPr lang="en-US" b="1" dirty="0"/>
              <a:t> </a:t>
            </a:r>
            <a:r>
              <a:rPr lang="en-US" b="1" dirty="0" err="1"/>
              <a:t>hiệu</a:t>
            </a:r>
            <a:r>
              <a:rPr lang="en-US" b="1" dirty="0"/>
              <a:t> </a:t>
            </a:r>
            <a:r>
              <a:rPr lang="en-US" b="1" dirty="0" err="1"/>
              <a:t>cử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vi-VN" b="1" dirty="0"/>
              <a:t>:</a:t>
            </a:r>
            <a:r>
              <a:rPr lang="vi-VN" dirty="0"/>
              <a:t> </a:t>
            </a:r>
            <a:r>
              <a:rPr lang="en-US" dirty="0"/>
              <a:t>Lệnh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Webcam.</a:t>
            </a:r>
          </a:p>
        </p:txBody>
      </p:sp>
    </p:spTree>
    <p:extLst>
      <p:ext uri="{BB962C8B-B14F-4D97-AF65-F5344CB8AC3E}">
        <p14:creationId xmlns:p14="http://schemas.microsoft.com/office/powerpoint/2010/main" val="4130845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2809-0A34-AE43-B9F7-9726CA499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F5B2D33-DD30-28B3-D488-266B8BB60B2E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04AE1B44-81DE-B88E-0894-98B49B834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5AA28711-1934-B1FE-94C5-3F3AB087B2D0}"/>
              </a:ext>
            </a:extLst>
          </p:cNvPr>
          <p:cNvSpPr txBox="1"/>
          <p:nvPr/>
        </p:nvSpPr>
        <p:spPr>
          <a:xfrm>
            <a:off x="0" y="1161288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3.2. Phạm Vi Nghiên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Cứu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3E80CD24-D1D3-D708-0ECF-6FC079F228F2}"/>
              </a:ext>
            </a:extLst>
          </p:cNvPr>
          <p:cNvSpPr txBox="1"/>
          <p:nvPr/>
        </p:nvSpPr>
        <p:spPr>
          <a:xfrm>
            <a:off x="3156204" y="226701"/>
            <a:ext cx="5766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I. GIỚI THIỆU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A9308-A511-789E-8350-923EEF062A7F}"/>
              </a:ext>
            </a:extLst>
          </p:cNvPr>
          <p:cNvSpPr txBox="1"/>
          <p:nvPr/>
        </p:nvSpPr>
        <p:spPr>
          <a:xfrm>
            <a:off x="239338" y="2322576"/>
            <a:ext cx="11214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bị</a:t>
            </a:r>
            <a:r>
              <a:rPr lang="en-US" b="1" dirty="0"/>
              <a:t> &amp;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AC (</a:t>
            </a:r>
            <a:r>
              <a:rPr lang="en-US" dirty="0" err="1"/>
              <a:t>Đèn</a:t>
            </a:r>
            <a:r>
              <a:rPr lang="en-US" dirty="0"/>
              <a:t>, </a:t>
            </a:r>
            <a:r>
              <a:rPr lang="en-US" dirty="0" err="1"/>
              <a:t>quạt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Môi trường phòng thí nghiệm/nhà ở có </a:t>
            </a:r>
            <a:r>
              <a:rPr lang="vi-VN" b="1" dirty="0"/>
              <a:t>ánh sáng ổn định</a:t>
            </a:r>
            <a:r>
              <a:rPr lang="vi-V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B811B-68C6-B323-8169-F13E01D5BD5D}"/>
              </a:ext>
            </a:extLst>
          </p:cNvPr>
          <p:cNvSpPr txBox="1"/>
          <p:nvPr/>
        </p:nvSpPr>
        <p:spPr>
          <a:xfrm>
            <a:off x="206784" y="3667012"/>
            <a:ext cx="112140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Nền </a:t>
            </a:r>
            <a:r>
              <a:rPr lang="en-US" b="1" dirty="0" err="1"/>
              <a:t>tảng</a:t>
            </a:r>
            <a:r>
              <a:rPr lang="en-US" b="1" dirty="0"/>
              <a:t> </a:t>
            </a:r>
            <a:r>
              <a:rPr lang="en-US" b="1" dirty="0" err="1"/>
              <a:t>truyền</a:t>
            </a:r>
            <a:r>
              <a:rPr lang="en-US" b="1" dirty="0"/>
              <a:t> tin: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Public Broker (</a:t>
            </a:r>
            <a:r>
              <a:rPr lang="en-US" b="1" dirty="0" err="1"/>
              <a:t>HiveMQ</a:t>
            </a:r>
            <a:r>
              <a:rPr lang="en-US" dirty="0"/>
              <a:t>)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mạng</a:t>
            </a:r>
            <a:r>
              <a:rPr lang="en-US" dirty="0"/>
              <a:t> Wi-Fi.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Giao thức truyền nhận dữ liệu MQTT tối ưu băng thông.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92594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C9A15-5E12-11B3-F1C5-DF0353094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37C657A-69C6-7D89-A398-E0CF82721816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3524031D-2092-608B-55D8-4D57B5E56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7269C3D-EDB9-F75E-72EE-922E8B8C6CCB}"/>
              </a:ext>
            </a:extLst>
          </p:cNvPr>
          <p:cNvSpPr txBox="1"/>
          <p:nvPr/>
        </p:nvSpPr>
        <p:spPr>
          <a:xfrm>
            <a:off x="190301" y="2541841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tích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chi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tiết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phần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76917B2A-5AAE-374E-25ED-52BE7EAE9F46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EE68B1DA-4907-1CE6-E466-757942D7A2C2}"/>
              </a:ext>
            </a:extLst>
          </p:cNvPr>
          <p:cNvSpPr txBox="1"/>
          <p:nvPr/>
        </p:nvSpPr>
        <p:spPr>
          <a:xfrm>
            <a:off x="190301" y="1366266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Kiến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trúc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66E7140C-790F-D638-2845-7AB9BC76BE28}"/>
              </a:ext>
            </a:extLst>
          </p:cNvPr>
          <p:cNvSpPr txBox="1"/>
          <p:nvPr/>
        </p:nvSpPr>
        <p:spPr>
          <a:xfrm>
            <a:off x="190301" y="3717417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tích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chi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tiết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phần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mềm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386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0D8C5-9B0C-0332-2CFA-B5B4D397A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0837080-DB40-E253-E16C-E39B5D4FEA78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9D6724E8-EC22-476A-6522-BD799C08F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F53A36CA-3421-469E-59C4-5D2728D6C94D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252CE12A-745D-73C3-4951-BA21CB5BA59D}"/>
              </a:ext>
            </a:extLst>
          </p:cNvPr>
          <p:cNvSpPr txBox="1"/>
          <p:nvPr/>
        </p:nvSpPr>
        <p:spPr>
          <a:xfrm>
            <a:off x="3504234" y="3017095"/>
            <a:ext cx="6034336" cy="70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Kiến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trúc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898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B7ECE-EE80-73D8-E53E-8D950D53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0C607DF-9D9F-001B-8A53-3760A5A4353E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C570D5A1-7CF0-231A-F162-16B5B65F8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05B0C417-AF81-BE14-8958-6DC11DC6313A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3C05CF01-957D-CC7C-0BA6-28C2E910A768}"/>
              </a:ext>
            </a:extLst>
          </p:cNvPr>
          <p:cNvSpPr txBox="1"/>
          <p:nvPr/>
        </p:nvSpPr>
        <p:spPr>
          <a:xfrm>
            <a:off x="0" y="1212015"/>
            <a:ext cx="5578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2.1.1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Khối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giao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(User Interface – Web Dashboard)</a:t>
            </a:r>
            <a:endParaRPr lang="vi-VN" sz="28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F208FC-18D4-F0C0-5C76-7642D86F2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360" y="1261111"/>
            <a:ext cx="6184342" cy="5446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82E70A-5A8C-88AD-A771-4B0D94A797BA}"/>
              </a:ext>
            </a:extLst>
          </p:cNvPr>
          <p:cNvSpPr txBox="1"/>
          <p:nvPr/>
        </p:nvSpPr>
        <p:spPr>
          <a:xfrm>
            <a:off x="58301" y="2548671"/>
            <a:ext cx="6167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Vai trò:</a:t>
            </a:r>
            <a:r>
              <a:rPr lang="vi-VN" dirty="0"/>
              <a:t> Lớp tương tác trực tiếp với người dùng.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424B9-D283-8D12-9D64-209434B1714F}"/>
              </a:ext>
            </a:extLst>
          </p:cNvPr>
          <p:cNvSpPr txBox="1"/>
          <p:nvPr/>
        </p:nvSpPr>
        <p:spPr>
          <a:xfrm>
            <a:off x="58301" y="3152580"/>
            <a:ext cx="61675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Chức </a:t>
            </a:r>
            <a:r>
              <a:rPr lang="en-US" b="1" dirty="0" err="1"/>
              <a:t>năng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Giám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Hiển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video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Webcam.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Gửi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qua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Web.</a:t>
            </a:r>
          </a:p>
        </p:txBody>
      </p:sp>
    </p:spTree>
    <p:extLst>
      <p:ext uri="{BB962C8B-B14F-4D97-AF65-F5344CB8AC3E}">
        <p14:creationId xmlns:p14="http://schemas.microsoft.com/office/powerpoint/2010/main" val="3343521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2B54E-7DD3-68A7-D182-C42018EC8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4DCD8C85-7579-D686-6618-8879FC890F01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B8278F00-26B7-4AA6-4848-820D05BF8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3EE56ED4-CFCB-EEE6-7F56-6CE9068DAEA5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D784DE02-1079-922B-A095-E32FF69B05B7}"/>
              </a:ext>
            </a:extLst>
          </p:cNvPr>
          <p:cNvSpPr txBox="1"/>
          <p:nvPr/>
        </p:nvSpPr>
        <p:spPr>
          <a:xfrm>
            <a:off x="0" y="1212015"/>
            <a:ext cx="5578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2.1.2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Khối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lý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mình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(Python &amp;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MeidaPipe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vi-VN" sz="28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474489-19B2-1972-4C7E-4818F6032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360" y="1261111"/>
            <a:ext cx="6184342" cy="5446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5FB3F0-889D-79BE-EE96-39C10098ECB1}"/>
              </a:ext>
            </a:extLst>
          </p:cNvPr>
          <p:cNvSpPr txBox="1"/>
          <p:nvPr/>
        </p:nvSpPr>
        <p:spPr>
          <a:xfrm>
            <a:off x="58301" y="2548671"/>
            <a:ext cx="6167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Vai trò:</a:t>
            </a:r>
            <a:r>
              <a:rPr lang="vi-VN" dirty="0"/>
              <a:t> </a:t>
            </a:r>
            <a:r>
              <a:rPr lang="en-US" dirty="0"/>
              <a:t>"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não</a:t>
            </a:r>
            <a:r>
              <a:rPr lang="en-US" dirty="0"/>
              <a:t>"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2141B-82D8-5692-7B46-28FC774723DE}"/>
              </a:ext>
            </a:extLst>
          </p:cNvPr>
          <p:cNvSpPr txBox="1"/>
          <p:nvPr/>
        </p:nvSpPr>
        <p:spPr>
          <a:xfrm>
            <a:off x="58301" y="3152580"/>
            <a:ext cx="53790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Chức </a:t>
            </a:r>
            <a:r>
              <a:rPr lang="en-US" b="1" dirty="0" err="1"/>
              <a:t>năng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Thu </a:t>
            </a:r>
            <a:r>
              <a:rPr lang="en-US" dirty="0" err="1"/>
              <a:t>thập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Camera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MediaPipe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cử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Chuyển đổi cử chỉ thành lệnh điều khiển, đóng gói dưới dạng dữ liệu </a:t>
            </a:r>
            <a:r>
              <a:rPr lang="vi-VN" b="1" dirty="0"/>
              <a:t>JSON</a:t>
            </a:r>
            <a:r>
              <a:rPr lang="vi-V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451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4463E-8322-1E54-F905-BCFFDE077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758E79A-4AA4-D55C-00F2-357FDC606620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46E3D7B3-FC48-4ECD-4B57-8BB289186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B0C536F1-03CD-F3F2-461F-149E621BDAD2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04D52FF2-E8B6-4ADF-38D4-2897ED18D4AF}"/>
              </a:ext>
            </a:extLst>
          </p:cNvPr>
          <p:cNvSpPr txBox="1"/>
          <p:nvPr/>
        </p:nvSpPr>
        <p:spPr>
          <a:xfrm>
            <a:off x="0" y="1212015"/>
            <a:ext cx="5578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2.1.3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Khối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truyền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tin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trung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HiveMQ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Cloud)</a:t>
            </a:r>
            <a:endParaRPr lang="vi-VN" sz="28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83DCA7-F0F2-C3A8-D750-71DD03016E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360" y="1261111"/>
            <a:ext cx="6184342" cy="5446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992646-5429-2551-7E8C-2133A673FF5C}"/>
              </a:ext>
            </a:extLst>
          </p:cNvPr>
          <p:cNvSpPr txBox="1"/>
          <p:nvPr/>
        </p:nvSpPr>
        <p:spPr>
          <a:xfrm>
            <a:off x="58301" y="2548671"/>
            <a:ext cx="4973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Vai trò:</a:t>
            </a:r>
            <a:r>
              <a:rPr lang="vi-VN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lạc</a:t>
            </a:r>
            <a:r>
              <a:rPr lang="en-US" dirty="0"/>
              <a:t> (Middleware) </a:t>
            </a:r>
            <a:r>
              <a:rPr lang="en-US" dirty="0" err="1"/>
              <a:t>giữa</a:t>
            </a:r>
            <a:r>
              <a:rPr lang="en-US" dirty="0"/>
              <a:t> AI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5350A1-AE79-226C-59BF-2F3ECF765F02}"/>
              </a:ext>
            </a:extLst>
          </p:cNvPr>
          <p:cNvSpPr txBox="1"/>
          <p:nvPr/>
        </p:nvSpPr>
        <p:spPr>
          <a:xfrm>
            <a:off x="58301" y="3152580"/>
            <a:ext cx="53790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Chức </a:t>
            </a:r>
            <a:r>
              <a:rPr lang="en-US" b="1" dirty="0" err="1"/>
              <a:t>năng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b="1" dirty="0"/>
              <a:t>MQTT</a:t>
            </a:r>
            <a:r>
              <a:rPr lang="en-US" dirty="0"/>
              <a:t> (Cloud Broker </a:t>
            </a:r>
            <a:r>
              <a:rPr lang="en-US" dirty="0" err="1"/>
              <a:t>HiveMQ</a:t>
            </a:r>
            <a:r>
              <a:rPr lang="en-U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điệp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,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dây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vi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4275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816D1-AA6F-723C-5FA3-4A0104C64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C91EFF76-5EDE-F2F1-F5DB-0F1744328797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40BA06D8-EF1E-1CF1-C1A9-5F68A5499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CCEB11D3-E7DA-F6EC-E55B-8D101D36AEB7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8A3248BD-ED30-9776-A8B5-42819E93E29F}"/>
              </a:ext>
            </a:extLst>
          </p:cNvPr>
          <p:cNvSpPr txBox="1"/>
          <p:nvPr/>
        </p:nvSpPr>
        <p:spPr>
          <a:xfrm>
            <a:off x="0" y="1212015"/>
            <a:ext cx="557845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2.1.4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Khối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&amp;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ngoại</a:t>
            </a:r>
            <a:r>
              <a:rPr lang="en-US" sz="28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vi (Hardware Layer – ESP32 &amp; Actuators)</a:t>
            </a:r>
            <a:endParaRPr lang="vi-VN" sz="28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2AAC48-9075-4C1F-7D48-B7188648B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360" y="1261111"/>
            <a:ext cx="6184342" cy="544653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395BBD3-C484-06F6-3877-B73EEB7AB83D}"/>
              </a:ext>
            </a:extLst>
          </p:cNvPr>
          <p:cNvSpPr txBox="1"/>
          <p:nvPr/>
        </p:nvSpPr>
        <p:spPr>
          <a:xfrm>
            <a:off x="58301" y="2548671"/>
            <a:ext cx="49739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Vai </a:t>
            </a:r>
            <a:r>
              <a:rPr lang="en-US" b="1" dirty="0" err="1"/>
              <a:t>trò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Trạm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AF252C-6B75-E21E-B1A5-1DA1CA7E4E58}"/>
              </a:ext>
            </a:extLst>
          </p:cNvPr>
          <p:cNvSpPr txBox="1"/>
          <p:nvPr/>
        </p:nvSpPr>
        <p:spPr>
          <a:xfrm>
            <a:off x="99725" y="3933666"/>
            <a:ext cx="53790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Chức </a:t>
            </a:r>
            <a:r>
              <a:rPr lang="en-US" b="1" dirty="0" err="1"/>
              <a:t>năng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Giải mã gói tin JSON nhận được từ MQTT.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GPIO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Relay/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dirty="0"/>
              <a:t>Gửi phản hồi trạng thái ngược lại giao diện Web.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47E7E-B444-4EBB-C0A4-8ED5564EDEE6}"/>
              </a:ext>
            </a:extLst>
          </p:cNvPr>
          <p:cNvSpPr txBox="1"/>
          <p:nvPr/>
        </p:nvSpPr>
        <p:spPr>
          <a:xfrm>
            <a:off x="58300" y="3335674"/>
            <a:ext cx="4973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Thành Phần:</a:t>
            </a:r>
            <a:r>
              <a:rPr lang="en-US" dirty="0"/>
              <a:t> ESP32, Relay, </a:t>
            </a:r>
            <a:r>
              <a:rPr lang="en-US" dirty="0" err="1"/>
              <a:t>Đèn</a:t>
            </a:r>
            <a:r>
              <a:rPr lang="en-US" dirty="0"/>
              <a:t>,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87737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0E82F-7326-6758-29D2-D2762C81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6ED986C-57E0-30DE-D289-B5414F7386D5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DBFD4BA5-DB5F-8610-3E55-7BC025F5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8862AA09-6AE9-0777-A57E-7F9F71513B79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218BD467-CF5D-746C-CA86-539C9CFB3967}"/>
              </a:ext>
            </a:extLst>
          </p:cNvPr>
          <p:cNvSpPr txBox="1"/>
          <p:nvPr/>
        </p:nvSpPr>
        <p:spPr>
          <a:xfrm>
            <a:off x="1737835" y="3004822"/>
            <a:ext cx="9597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Tích Chi Tiết Cấu Hình Phần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Cứng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923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0F197-1A94-C68D-B3EC-CA17ACE8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253F426-B58C-9915-D1F7-771882C97E5C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7D324556-2208-B948-AC64-22A0A6CD7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65C138CC-701E-6952-5226-6295BCFF20DB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7202DCB3-8772-1CE0-0D8D-765EA57C70C1}"/>
              </a:ext>
            </a:extLst>
          </p:cNvPr>
          <p:cNvSpPr txBox="1"/>
          <p:nvPr/>
        </p:nvSpPr>
        <p:spPr>
          <a:xfrm>
            <a:off x="136102" y="1288167"/>
            <a:ext cx="570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2.2.1 Vi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khiển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ESP32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9B257B-841C-2297-A9D9-B7D831E3EC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32"/>
          <a:stretch>
            <a:fillRect/>
          </a:stretch>
        </p:blipFill>
        <p:spPr bwMode="auto">
          <a:xfrm>
            <a:off x="6349660" y="1180464"/>
            <a:ext cx="5842340" cy="56775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925D7E-630E-5A19-CF65-B3E6C1206B40}"/>
              </a:ext>
            </a:extLst>
          </p:cNvPr>
          <p:cNvSpPr txBox="1"/>
          <p:nvPr/>
        </p:nvSpPr>
        <p:spPr>
          <a:xfrm>
            <a:off x="28640" y="2399736"/>
            <a:ext cx="61123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lõi</a:t>
            </a:r>
            <a:r>
              <a:rPr lang="en-US" b="1" dirty="0"/>
              <a:t> </a:t>
            </a:r>
            <a:r>
              <a:rPr lang="en-US" b="1" dirty="0" err="1"/>
              <a:t>kép</a:t>
            </a:r>
            <a:r>
              <a:rPr lang="en-US" b="1" dirty="0"/>
              <a:t>: </a:t>
            </a:r>
            <a:r>
              <a:rPr lang="en-US" dirty="0"/>
              <a:t>Xtensa® Dual-Core 32-bit LX6,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nhịp</a:t>
            </a:r>
            <a:r>
              <a:rPr lang="en-US" dirty="0"/>
              <a:t> 240 </a:t>
            </a:r>
            <a:r>
              <a:rPr lang="en-US" dirty="0" err="1"/>
              <a:t>MHz.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song </a:t>
            </a:r>
            <a:r>
              <a:rPr lang="en-US" dirty="0" err="1"/>
              <a:t>song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nối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dây</a:t>
            </a:r>
            <a:r>
              <a:rPr lang="en-US" b="1" dirty="0"/>
              <a:t>: </a:t>
            </a:r>
            <a:r>
              <a:rPr lang="en-US" dirty="0"/>
              <a:t>Wi-Fi 2.4 GHz &amp; Bluetooth 4.2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ESP-NOW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Bộ nhớ lưu trữ</a:t>
            </a:r>
            <a:r>
              <a:rPr lang="en-US" b="1" dirty="0"/>
              <a:t>: </a:t>
            </a:r>
            <a:r>
              <a:rPr lang="vi-VN" dirty="0"/>
              <a:t>520 KB SRAM &amp; 4 MB Flash. Đáp ứng tốt việc lưu trữ mã nguồn và xử lý gói tin JSON.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thống</a:t>
            </a:r>
            <a:r>
              <a:rPr lang="en-US" b="1" dirty="0"/>
              <a:t> I/O: </a:t>
            </a:r>
            <a:r>
              <a:rPr lang="vi-VN" dirty="0"/>
              <a:t>30 chân GPIO hỗ trợ UART, SPI, I2C và PWM (điều khiển LED, động cơ Servo).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21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93495-D3AC-EA09-1A5B-75BA14469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8FD8DF0-DEC4-B5BB-1A63-0C03ABD442DF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7800E8A2-73E0-F393-69BE-A648928D9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F164A324-9F7D-4700-AED7-B718AF236FC5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86C5A143-EA0F-6B56-210F-54E1B0A3EF4F}"/>
              </a:ext>
            </a:extLst>
          </p:cNvPr>
          <p:cNvSpPr txBox="1"/>
          <p:nvPr/>
        </p:nvSpPr>
        <p:spPr>
          <a:xfrm>
            <a:off x="3814512" y="1212297"/>
            <a:ext cx="570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2.2.2 Thiết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Ngoại Vi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BC83AA-CAF6-68A9-3A32-3BBF49E70E2B}"/>
              </a:ext>
            </a:extLst>
          </p:cNvPr>
          <p:cNvSpPr txBox="1"/>
          <p:nvPr/>
        </p:nvSpPr>
        <p:spPr>
          <a:xfrm>
            <a:off x="3814512" y="1757600"/>
            <a:ext cx="61123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Demo </a:t>
            </a:r>
            <a:r>
              <a:rPr lang="en-US" b="1" dirty="0" err="1"/>
              <a:t>trực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endParaRPr lang="en-US" dirty="0"/>
          </a:p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Đèn</a:t>
            </a:r>
            <a:r>
              <a:rPr lang="en-US" b="1" dirty="0"/>
              <a:t> LED (3.3V-5V):</a:t>
            </a:r>
            <a:r>
              <a:rPr lang="en-US" dirty="0"/>
              <a:t> 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bóng</a:t>
            </a:r>
            <a:r>
              <a:rPr lang="en-US" dirty="0"/>
              <a:t> </a:t>
            </a:r>
            <a:r>
              <a:rPr lang="en-US" dirty="0" err="1"/>
              <a:t>đèn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</a:t>
            </a:r>
            <a:r>
              <a:rPr lang="en-US" dirty="0" err="1"/>
              <a:t>sáng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Servo MG90s:</a:t>
            </a:r>
            <a:r>
              <a:rPr lang="en-US" dirty="0"/>
              <a:t> 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/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45A4F-3F8C-5A4F-37D4-AB4CADFAFC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23" y="1423045"/>
            <a:ext cx="2745105" cy="2053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E56A67-BB69-AB2A-9FA1-D15B9FBB474E}"/>
              </a:ext>
            </a:extLst>
          </p:cNvPr>
          <p:cNvSpPr txBox="1"/>
          <p:nvPr/>
        </p:nvSpPr>
        <p:spPr>
          <a:xfrm>
            <a:off x="-1601244" y="3471034"/>
            <a:ext cx="6563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vi-VN" sz="1800" i="1" kern="100" dirty="0">
                <a:solidFill>
                  <a:srgbClr val="44546A"/>
                </a:solidFill>
                <a:effectLst/>
                <a:latin typeface="Time s New Roman"/>
                <a:ea typeface="Calibri" panose="020F0502020204030204" pitchFamily="34" charset="0"/>
                <a:cs typeface="Times New Roman" panose="02020603050405020304" pitchFamily="18" charset="0"/>
              </a:rPr>
              <a:t>Hình 3: Servo 180</a:t>
            </a:r>
            <a:endParaRPr lang="en-US" sz="105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684592-F7F1-128B-3FC4-AFF03DD70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6" y="4088902"/>
            <a:ext cx="2969895" cy="20612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959A4A-EF79-41A1-246B-ECA0B76A0B3C}"/>
              </a:ext>
            </a:extLst>
          </p:cNvPr>
          <p:cNvSpPr txBox="1"/>
          <p:nvPr/>
        </p:nvSpPr>
        <p:spPr>
          <a:xfrm>
            <a:off x="-1867944" y="6150112"/>
            <a:ext cx="7362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vi-VN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 4: Servo MG90S</a:t>
            </a:r>
            <a:endParaRPr lang="en-US" sz="105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622C10-E368-E80E-9EEF-3E640BC812DD}"/>
              </a:ext>
            </a:extLst>
          </p:cNvPr>
          <p:cNvSpPr txBox="1"/>
          <p:nvPr/>
        </p:nvSpPr>
        <p:spPr>
          <a:xfrm>
            <a:off x="3814512" y="3873940"/>
            <a:ext cx="703649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Đặc </a:t>
            </a:r>
            <a:r>
              <a:rPr lang="en-US" b="1" dirty="0" err="1"/>
              <a:t>tính</a:t>
            </a:r>
            <a:r>
              <a:rPr lang="en-US" b="1" dirty="0"/>
              <a:t>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MG90s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bền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b="1" dirty="0"/>
              <a:t>:</a:t>
            </a:r>
            <a:r>
              <a:rPr lang="en-US" dirty="0"/>
              <a:t> 100% bánh </a:t>
            </a:r>
            <a:r>
              <a:rPr lang="en-US" dirty="0" err="1"/>
              <a:t>răng</a:t>
            </a:r>
            <a:r>
              <a:rPr lang="en-US" dirty="0"/>
              <a:t> </a:t>
            </a:r>
            <a:r>
              <a:rPr lang="en-US" dirty="0" err="1"/>
              <a:t>kim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,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mòn</a:t>
            </a:r>
            <a:r>
              <a:rPr lang="en-US" dirty="0"/>
              <a:t>/</a:t>
            </a:r>
            <a:r>
              <a:rPr lang="en-US" dirty="0" err="1"/>
              <a:t>gãy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Sức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r>
              <a:rPr lang="en-US" b="1" dirty="0"/>
              <a:t>:</a:t>
            </a:r>
            <a:r>
              <a:rPr lang="en-US" dirty="0"/>
              <a:t> Momen </a:t>
            </a:r>
            <a:r>
              <a:rPr lang="en-US" dirty="0" err="1"/>
              <a:t>xoắn</a:t>
            </a:r>
            <a:r>
              <a:rPr lang="en-US" dirty="0"/>
              <a:t> 2.2kg/cm (6V),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cánh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Hiệu </a:t>
            </a:r>
            <a:r>
              <a:rPr lang="en-US" b="1" dirty="0" err="1"/>
              <a:t>suất</a:t>
            </a:r>
            <a:r>
              <a:rPr lang="en-US" b="1" dirty="0"/>
              <a:t>:</a:t>
            </a:r>
            <a:r>
              <a:rPr lang="en-US" dirty="0"/>
              <a:t> Quay 180°,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0.1s/60°,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khiển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Xung</a:t>
            </a:r>
            <a:r>
              <a:rPr lang="en-US" dirty="0"/>
              <a:t> PWM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50Hz (Chu </a:t>
            </a:r>
            <a:r>
              <a:rPr lang="en-US" dirty="0" err="1"/>
              <a:t>kỳ</a:t>
            </a:r>
            <a:r>
              <a:rPr lang="en-US" dirty="0"/>
              <a:t> 20ms)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ESP32.</a:t>
            </a:r>
          </a:p>
        </p:txBody>
      </p:sp>
    </p:spTree>
    <p:extLst>
      <p:ext uri="{BB962C8B-B14F-4D97-AF65-F5344CB8AC3E}">
        <p14:creationId xmlns:p14="http://schemas.microsoft.com/office/powerpoint/2010/main" val="3664929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836C4-AA6A-A701-4B24-EEB901B9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FD92156-E3C2-184C-085A-C200FF61420E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4C5F6EC2-BDA5-EE83-B04E-F117FA211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AE94E20E-A7D7-0C84-4762-983439D6C7A6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A02351B3-ACA3-2CEC-7113-12F41A7462C5}"/>
              </a:ext>
            </a:extLst>
          </p:cNvPr>
          <p:cNvSpPr txBox="1"/>
          <p:nvPr/>
        </p:nvSpPr>
        <p:spPr>
          <a:xfrm>
            <a:off x="3803722" y="1192484"/>
            <a:ext cx="570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2.2.2 Thiết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Ngoại Vi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3D173-10D9-1131-A4EB-350CAEDFDD5D}"/>
              </a:ext>
            </a:extLst>
          </p:cNvPr>
          <p:cNvSpPr txBox="1"/>
          <p:nvPr/>
        </p:nvSpPr>
        <p:spPr>
          <a:xfrm>
            <a:off x="3803722" y="1966851"/>
            <a:ext cx="75090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Sơ đồ nối dây MG90s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Dây</a:t>
            </a:r>
            <a:r>
              <a:rPr lang="en-US" b="1" dirty="0"/>
              <a:t> Cam: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(PWM - GPIO ESP32)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Dây Đỏ: </a:t>
            </a:r>
            <a:r>
              <a:rPr lang="vi-VN" dirty="0"/>
              <a:t>Nguồn Dương (5V +)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Dây</a:t>
            </a:r>
            <a:r>
              <a:rPr lang="en-US" b="1" dirty="0"/>
              <a:t> </a:t>
            </a:r>
            <a:r>
              <a:rPr lang="en-US" b="1" dirty="0" err="1"/>
              <a:t>Nâu</a:t>
            </a:r>
            <a:r>
              <a:rPr lang="en-US" b="1" dirty="0"/>
              <a:t>: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 (GND -)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br>
              <a:rPr lang="en-US" dirty="0"/>
            </a:b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771046-F56A-B9C3-E5F7-529561C31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23" y="1423045"/>
            <a:ext cx="2745105" cy="20535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598BE7-F2AE-5411-A192-3AEC1709D2C9}"/>
              </a:ext>
            </a:extLst>
          </p:cNvPr>
          <p:cNvSpPr txBox="1"/>
          <p:nvPr/>
        </p:nvSpPr>
        <p:spPr>
          <a:xfrm>
            <a:off x="-1601244" y="3471034"/>
            <a:ext cx="6563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vi-VN" sz="1800" i="1" kern="100" dirty="0">
                <a:solidFill>
                  <a:srgbClr val="44546A"/>
                </a:solidFill>
                <a:effectLst/>
                <a:latin typeface="Time s New Roman"/>
                <a:ea typeface="Calibri" panose="020F0502020204030204" pitchFamily="34" charset="0"/>
                <a:cs typeface="Times New Roman" panose="02020603050405020304" pitchFamily="18" charset="0"/>
              </a:rPr>
              <a:t>Hình 3: Servo 180</a:t>
            </a:r>
            <a:endParaRPr lang="en-US" sz="105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1A16D6-0A51-9116-283A-4E13F1758E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16" y="4088902"/>
            <a:ext cx="2969895" cy="206121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38E0294-31C5-6AF4-2AC4-A1487C5BFE96}"/>
              </a:ext>
            </a:extLst>
          </p:cNvPr>
          <p:cNvSpPr txBox="1"/>
          <p:nvPr/>
        </p:nvSpPr>
        <p:spPr>
          <a:xfrm>
            <a:off x="-1867944" y="6150112"/>
            <a:ext cx="7362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buNone/>
            </a:pPr>
            <a:r>
              <a:rPr lang="vi-VN" sz="18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Hình 4: Servo MG90S</a:t>
            </a:r>
            <a:endParaRPr lang="en-US" sz="1050" i="1" kern="100" dirty="0">
              <a:solidFill>
                <a:srgbClr val="44546A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148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4229-D3BA-7961-5D66-B0A077B72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6F06618-3136-7880-CC2E-F4D3B92FB694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2CE2BF84-BF00-9457-DB18-FCCF4FABD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190CFAB4-E30A-FF0D-5D4E-91304A517621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94970843-8443-B9AB-C1AD-8EEBC71F9BF3}"/>
              </a:ext>
            </a:extLst>
          </p:cNvPr>
          <p:cNvSpPr txBox="1"/>
          <p:nvPr/>
        </p:nvSpPr>
        <p:spPr>
          <a:xfrm>
            <a:off x="219765" y="1288167"/>
            <a:ext cx="761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2.2.3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giám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sát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tâm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Máy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chủ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0585AA-D4FA-3BF7-72E9-B0A3725241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976" y="1872942"/>
            <a:ext cx="6219550" cy="4852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1D571B-22CE-D0F2-648E-B95C61149370}"/>
              </a:ext>
            </a:extLst>
          </p:cNvPr>
          <p:cNvSpPr txBox="1"/>
          <p:nvPr/>
        </p:nvSpPr>
        <p:spPr>
          <a:xfrm>
            <a:off x="125474" y="2202310"/>
            <a:ext cx="51154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Vai </a:t>
            </a:r>
            <a:r>
              <a:rPr lang="en-US" b="1" dirty="0" err="1"/>
              <a:t>trò</a:t>
            </a:r>
            <a:r>
              <a:rPr lang="en-US" b="1" dirty="0"/>
              <a:t> </a:t>
            </a:r>
            <a:r>
              <a:rPr lang="en-US" b="1" dirty="0" err="1"/>
              <a:t>Máy</a:t>
            </a:r>
            <a:r>
              <a:rPr lang="en-US" b="1" dirty="0"/>
              <a:t> </a:t>
            </a:r>
            <a:r>
              <a:rPr lang="en-US" b="1" dirty="0" err="1"/>
              <a:t>chủ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(Server)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Hiệu năng mạnh mẽ:</a:t>
            </a:r>
            <a:r>
              <a:rPr lang="vi-VN" dirty="0"/>
              <a:t> Vi xử lý vượt trội hơn các MicroController, đảm bảo vận hành mượt mà với độ trễ cực thấp.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</a:t>
            </a:r>
            <a:r>
              <a:rPr lang="en-US" b="1" dirty="0" err="1"/>
              <a:t>trực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:</a:t>
            </a:r>
            <a:r>
              <a:rPr lang="en-US" dirty="0"/>
              <a:t> Webcam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30 FPS,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chỗ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qua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Giảm </a:t>
            </a:r>
            <a:r>
              <a:rPr lang="en-US" b="1" dirty="0" err="1"/>
              <a:t>tải</a:t>
            </a:r>
            <a:r>
              <a:rPr lang="en-US" b="1" dirty="0"/>
              <a:t> </a:t>
            </a:r>
            <a:r>
              <a:rPr lang="en-US" b="1" dirty="0" err="1"/>
              <a:t>cho</a:t>
            </a:r>
            <a:r>
              <a:rPr lang="en-US" b="1" dirty="0"/>
              <a:t> ESP32:</a:t>
            </a:r>
            <a:r>
              <a:rPr lang="en-US" dirty="0"/>
              <a:t> 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AI </a:t>
            </a:r>
            <a:r>
              <a:rPr lang="en-US" dirty="0" err="1"/>
              <a:t>nặng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Laptop, ESP32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2397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8D145-4253-280B-DB0C-B59C2FD6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4A07BD8-D7B9-21BB-011C-EF9A4FF5905F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A0DD93D2-F9AC-75D4-3C6D-8718E8BDF9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54CA62F1-7BB1-D963-1DC3-FA7A2A2648B3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1D5F6C34-65EA-30E8-D948-F202124495A9}"/>
              </a:ext>
            </a:extLst>
          </p:cNvPr>
          <p:cNvSpPr txBox="1"/>
          <p:nvPr/>
        </p:nvSpPr>
        <p:spPr>
          <a:xfrm>
            <a:off x="219765" y="1288167"/>
            <a:ext cx="7617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2.2.3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giám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sát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tâm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Máy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chủ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B698C9-EEE7-115C-7934-86D9EACF58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976" y="1872942"/>
            <a:ext cx="6219550" cy="4852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DF9363-4226-B452-368D-4C59EE105529}"/>
              </a:ext>
            </a:extLst>
          </p:cNvPr>
          <p:cNvSpPr txBox="1"/>
          <p:nvPr/>
        </p:nvSpPr>
        <p:spPr>
          <a:xfrm>
            <a:off x="125474" y="2202310"/>
            <a:ext cx="55450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Luồng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AI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Thu </a:t>
            </a:r>
            <a:r>
              <a:rPr lang="en-US" b="1" dirty="0" err="1"/>
              <a:t>thập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: </a:t>
            </a:r>
            <a:r>
              <a:rPr lang="vi-VN" dirty="0"/>
              <a:t>Webcam ghi hình liên tục trong điều kiện lý tưởng (30 fps).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Tiền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ảnh</a:t>
            </a:r>
            <a:r>
              <a:rPr lang="en-US" b="1" dirty="0"/>
              <a:t>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màu</a:t>
            </a:r>
            <a:r>
              <a:rPr lang="en-US" dirty="0"/>
              <a:t> RGB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Phân </a:t>
            </a:r>
            <a:r>
              <a:rPr lang="en-US" b="1" dirty="0" err="1"/>
              <a:t>tích</a:t>
            </a:r>
            <a:r>
              <a:rPr lang="en-US" b="1" dirty="0"/>
              <a:t> </a:t>
            </a:r>
            <a:r>
              <a:rPr lang="en-US" b="1" dirty="0" err="1"/>
              <a:t>cử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MediaPipe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trích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 err="1"/>
              <a:t>Đóng</a:t>
            </a:r>
            <a:r>
              <a:rPr lang="en-US" b="1" dirty="0"/>
              <a:t> </a:t>
            </a:r>
            <a:r>
              <a:rPr lang="en-US" b="1" dirty="0" err="1"/>
              <a:t>gói</a:t>
            </a:r>
            <a:r>
              <a:rPr lang="en-US" b="1" dirty="0"/>
              <a:t> &amp; </a:t>
            </a:r>
            <a:r>
              <a:rPr lang="en-US" b="1" dirty="0" err="1"/>
              <a:t>Truyền</a:t>
            </a:r>
            <a:r>
              <a:rPr lang="en-US" b="1" dirty="0"/>
              <a:t> tin: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JSON, </a:t>
            </a:r>
            <a:r>
              <a:rPr lang="en-US" dirty="0" err="1"/>
              <a:t>gửi</a:t>
            </a:r>
            <a:r>
              <a:rPr lang="en-US" dirty="0"/>
              <a:t> qua MQTT </a:t>
            </a:r>
            <a:r>
              <a:rPr lang="en-US" dirty="0" err="1"/>
              <a:t>đến</a:t>
            </a:r>
            <a:r>
              <a:rPr lang="en-US" dirty="0"/>
              <a:t> ESP32.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66704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219E-274A-1C28-8CC1-6479F617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E3418A01-B67C-AC6B-80ED-A1F5E3B786C9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69040345-9874-9A99-9F1E-3012EBB07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0BABA3F8-BFD2-7E3D-0F5D-463DB7C4A22E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7D915D6E-C2C6-90B0-0118-26B3BF465862}"/>
              </a:ext>
            </a:extLst>
          </p:cNvPr>
          <p:cNvSpPr txBox="1"/>
          <p:nvPr/>
        </p:nvSpPr>
        <p:spPr>
          <a:xfrm>
            <a:off x="1737835" y="3004822"/>
            <a:ext cx="95970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Phân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Tích Chi Tiết Cấu Hình Phần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Mềm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9081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F0A22-DBD9-0B38-EE09-748059C5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4D4985AC-BB39-A123-FCF9-5FAFC28C4ACD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4B218952-370B-EB8D-51AC-EFF8D09224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CB896226-389D-5480-1E06-17E319402636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B1282EB8-E071-A0A2-2DE7-13B5361A1B2A}"/>
              </a:ext>
            </a:extLst>
          </p:cNvPr>
          <p:cNvSpPr txBox="1"/>
          <p:nvPr/>
        </p:nvSpPr>
        <p:spPr>
          <a:xfrm>
            <a:off x="0" y="1161288"/>
            <a:ext cx="10327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2.3.1 Thư Viện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Bài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Toán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Landmark Detection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2FEE2-9398-5ABF-23CF-1A037DE4DCF4}"/>
              </a:ext>
            </a:extLst>
          </p:cNvPr>
          <p:cNvSpPr txBox="1"/>
          <p:nvPr/>
        </p:nvSpPr>
        <p:spPr>
          <a:xfrm>
            <a:off x="438791" y="1929805"/>
            <a:ext cx="493714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&amp;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loại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Multi-hand Tracking (num_hands=2):</a:t>
            </a:r>
            <a:r>
              <a:rPr lang="vi-VN" dirty="0"/>
              <a:t> Theo dõi đồng thời hai bàn tay, cho phép các kịch bản tương tác phức tạp.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Handedness Classification:</a:t>
            </a:r>
            <a:r>
              <a:rPr lang="en-US" dirty="0"/>
              <a:t> 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/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(Mapping):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Tay Trái</a:t>
            </a:r>
            <a:r>
              <a:rPr lang="en-US" dirty="0"/>
              <a:t> Điều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đèn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khách</a:t>
            </a:r>
            <a:r>
              <a:rPr lang="en-US" dirty="0"/>
              <a:t> (</a:t>
            </a:r>
            <a:r>
              <a:rPr lang="en-US" dirty="0" err="1"/>
              <a:t>Living_light</a:t>
            </a:r>
            <a:r>
              <a:rPr lang="en-US" dirty="0"/>
              <a:t>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b="1" dirty="0"/>
              <a:t>Tay Phải</a:t>
            </a:r>
            <a:r>
              <a:rPr lang="en-US" dirty="0"/>
              <a:t> Điều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đèn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bếp</a:t>
            </a:r>
            <a:r>
              <a:rPr lang="en-US" dirty="0"/>
              <a:t> (</a:t>
            </a:r>
            <a:r>
              <a:rPr lang="en-US" dirty="0" err="1"/>
              <a:t>Kitchen_light</a:t>
            </a:r>
            <a:r>
              <a:rPr lang="en-US" dirty="0"/>
              <a:t>).</a:t>
            </a:r>
          </a:p>
          <a:p>
            <a:pPr lvl="1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AAE89-7E12-7203-9EFE-3E510F60A428}"/>
              </a:ext>
            </a:extLst>
          </p:cNvPr>
          <p:cNvSpPr txBox="1"/>
          <p:nvPr/>
        </p:nvSpPr>
        <p:spPr>
          <a:xfrm>
            <a:off x="438790" y="5111938"/>
            <a:ext cx="49371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Default State:</a:t>
            </a:r>
            <a:r>
              <a:rPr lang="en-US" dirty="0"/>
              <a:t> 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nắm</a:t>
            </a:r>
            <a:r>
              <a:rPr lang="en-US" dirty="0"/>
              <a:t> </a:t>
            </a:r>
            <a:r>
              <a:rPr lang="en-US" dirty="0" err="1"/>
              <a:t>tay</a:t>
            </a:r>
            <a:r>
              <a:rPr lang="en-US" dirty="0"/>
              <a:t> (Fist Hand)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 </a:t>
            </a:r>
            <a:r>
              <a:rPr lang="en-US" b="1" dirty="0"/>
              <a:t>OFF</a:t>
            </a:r>
            <a:r>
              <a:rPr lang="en-US" dirty="0"/>
              <a:t> (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0).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80E909-340D-F085-2F8C-15C31928D347}"/>
              </a:ext>
            </a:extLst>
          </p:cNvPr>
          <p:cNvSpPr txBox="1"/>
          <p:nvPr/>
        </p:nvSpPr>
        <p:spPr>
          <a:xfrm>
            <a:off x="5917007" y="1929805"/>
            <a:ext cx="617987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Logic hình học &amp; Tối ưu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Nhận</a:t>
            </a:r>
            <a:r>
              <a:rPr lang="en-US" b="1" dirty="0"/>
              <a:t> </a:t>
            </a:r>
            <a:r>
              <a:rPr lang="en-US" b="1" dirty="0" err="1"/>
              <a:t>diện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/</a:t>
            </a:r>
            <a:r>
              <a:rPr lang="en-US" b="1" dirty="0" err="1"/>
              <a:t>mở</a:t>
            </a:r>
            <a:r>
              <a:rPr lang="en-US" b="1" dirty="0"/>
              <a:t>:</a:t>
            </a:r>
            <a:r>
              <a:rPr lang="en-US" dirty="0"/>
              <a:t> 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Y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ngón</a:t>
            </a:r>
            <a:r>
              <a:rPr lang="en-US" dirty="0"/>
              <a:t> (**Tip**)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ngón</a:t>
            </a:r>
            <a:r>
              <a:rPr lang="en-US" dirty="0"/>
              <a:t> (**Pip**).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Logic </a:t>
            </a:r>
            <a:r>
              <a:rPr lang="en-US" b="1" dirty="0" err="1"/>
              <a:t>khoảng</a:t>
            </a:r>
            <a:r>
              <a:rPr lang="en-US" b="1" dirty="0"/>
              <a:t> </a:t>
            </a:r>
            <a:r>
              <a:rPr lang="en-US" b="1" dirty="0" err="1"/>
              <a:t>cách</a:t>
            </a:r>
            <a:r>
              <a:rPr lang="en-US" b="1" dirty="0"/>
              <a:t> (Euclidean):</a:t>
            </a:r>
            <a:r>
              <a:rPr lang="en-US" dirty="0"/>
              <a:t> 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ngón</a:t>
            </a:r>
            <a:r>
              <a:rPr lang="en-US" dirty="0"/>
              <a:t>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(Door).</a:t>
            </a:r>
          </a:p>
          <a:p>
            <a:r>
              <a:rPr lang="en-US" dirty="0"/>
              <a:t>	</a:t>
            </a:r>
            <a:r>
              <a:rPr lang="en-US" b="1" dirty="0"/>
              <a:t>d = √[(x2-x1)² + (y2-y1)²]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Chế độ RunningMode.VIDEO:</a:t>
            </a:r>
            <a:r>
              <a:rPr lang="vi-VN" dirty="0"/>
              <a:t> Sử dụng </a:t>
            </a:r>
            <a:r>
              <a:rPr lang="vi-VN" b="1" dirty="0"/>
              <a:t>timestamp_ms</a:t>
            </a:r>
            <a:r>
              <a:rPr lang="vi-VN" dirty="0"/>
              <a:t> để dự đoán vị trí từ khung hình trước, giúp luồng nhận diện mượt mà (30 FPS).</a:t>
            </a:r>
          </a:p>
        </p:txBody>
      </p:sp>
    </p:spTree>
    <p:extLst>
      <p:ext uri="{BB962C8B-B14F-4D97-AF65-F5344CB8AC3E}">
        <p14:creationId xmlns:p14="http://schemas.microsoft.com/office/powerpoint/2010/main" val="7878521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7E5A-08FA-58DC-62E1-E8CE90CA0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950A62E-A38F-5CB1-F9A7-3DA5C6772CC6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CBABB854-5777-FB3C-C4D2-7C05F7593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8DC75CDF-0800-9EB0-651A-2F29E259E2DA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34AFC05F-A2BD-FAFA-5B7F-87E97E46AC46}"/>
              </a:ext>
            </a:extLst>
          </p:cNvPr>
          <p:cNvSpPr txBox="1"/>
          <p:nvPr/>
        </p:nvSpPr>
        <p:spPr>
          <a:xfrm>
            <a:off x="0" y="1161288"/>
            <a:ext cx="10327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2.3.2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lựa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thư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viện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án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4CD8956-298B-0694-6E2F-ABB3D8911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602144"/>
              </p:ext>
            </p:extLst>
          </p:nvPr>
        </p:nvGraphicFramePr>
        <p:xfrm>
          <a:off x="838200" y="1882934"/>
          <a:ext cx="10515600" cy="4236720"/>
        </p:xfrm>
        <a:graphic>
          <a:graphicData uri="http://schemas.openxmlformats.org/drawingml/2006/table">
            <a:tbl>
              <a:tblPr/>
              <a:tblGrid>
                <a:gridCol w="3415323">
                  <a:extLst>
                    <a:ext uri="{9D8B030D-6E8A-4147-A177-3AD203B41FA5}">
                      <a16:colId xmlns:a16="http://schemas.microsoft.com/office/drawing/2014/main" val="1916038205"/>
                    </a:ext>
                  </a:extLst>
                </a:gridCol>
                <a:gridCol w="3415323">
                  <a:extLst>
                    <a:ext uri="{9D8B030D-6E8A-4147-A177-3AD203B41FA5}">
                      <a16:colId xmlns:a16="http://schemas.microsoft.com/office/drawing/2014/main" val="2315360431"/>
                    </a:ext>
                  </a:extLst>
                </a:gridCol>
                <a:gridCol w="3684954">
                  <a:extLst>
                    <a:ext uri="{9D8B030D-6E8A-4147-A177-3AD203B41FA5}">
                      <a16:colId xmlns:a16="http://schemas.microsoft.com/office/drawing/2014/main" val="10217149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Đặc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điểm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so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sánh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YOLOv8-pose / OpenPose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MediaPipe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Hand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Landmarker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412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Yêu cầu phần cứng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Cao: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Cần GPU rời (Nvidia RTX...) để đạt tốc độ thực tế.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Thấp:</a:t>
                      </a: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Tối ưu hóa cực tốt cho </a:t>
                      </a:r>
                      <a:r>
                        <a:rPr lang="vi-V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CPU</a:t>
                      </a:r>
                      <a:r>
                        <a:rPr lang="vi-V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máy tính phổ thông.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708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Độ chi tiết bàn tay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Chỉ nhận diện tư thế người (Pose), ít điểm chi tiết trên tay.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Cung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cấp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bản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đồ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điểm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Landmark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chi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tiết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cho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mỗi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bàn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tay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873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Tốc độ xử lý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Nặng nề, độ trễ cao khi chạy trên laptop thường.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Siêu nhanh: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Trung bình 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22.56ms/khung hình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(Real-time).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8832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Khả năng ứng dụng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Phù hợp nhận diện hành động toàn thân (ngã, chạy...).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vi-V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Tối ưu cho IoT:</a:t>
                      </a:r>
                      <a:r>
                        <a:rPr lang="vi-V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Điều khiển thiết bị qua cử chỉ ngón tay chính xác.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855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Chi phí triển khai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Đắt đỏ do yêu cầu hạ tầng máy tính mạnh.</a:t>
                      </a:r>
                    </a:p>
                  </a:txBody>
                  <a:tcPr marR="76200"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Tiết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kiệm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: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Phù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hợp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với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hạ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tầng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nhà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thông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minh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bình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dân</a:t>
                      </a: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T="101600" marB="1016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0503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704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FB62D-FFBD-3C2C-38F0-BA2EA2FC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887B3B1-5738-1AF7-C449-616E6380E73F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BE0F680D-399E-73AF-66D3-8E5138DB6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901A128B-2AD8-B6CF-C9E3-31415D7A1645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D8786C33-7BBC-1A02-7A6F-2FB23CCA8442}"/>
              </a:ext>
            </a:extLst>
          </p:cNvPr>
          <p:cNvSpPr txBox="1"/>
          <p:nvPr/>
        </p:nvSpPr>
        <p:spPr>
          <a:xfrm>
            <a:off x="0" y="1161288"/>
            <a:ext cx="10327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2.3.2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lựa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chọn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thư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viện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MediaPipe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án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FBABB4-733D-39B1-8591-B8BD6E519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8221" y="2222754"/>
            <a:ext cx="5295458" cy="195256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7B6E22-65CD-D427-26BC-A8E4EBD31D28}"/>
              </a:ext>
            </a:extLst>
          </p:cNvPr>
          <p:cNvSpPr txBox="1"/>
          <p:nvPr/>
        </p:nvSpPr>
        <p:spPr>
          <a:xfrm>
            <a:off x="170375" y="2222754"/>
            <a:ext cx="61798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Quy </a:t>
            </a:r>
            <a:r>
              <a:rPr lang="en-US" b="1" dirty="0" err="1"/>
              <a:t>trình</a:t>
            </a:r>
            <a:r>
              <a:rPr lang="en-US" b="1" dirty="0"/>
              <a:t> </a:t>
            </a:r>
            <a:r>
              <a:rPr lang="en-US" b="1" dirty="0" err="1"/>
              <a:t>xử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2 </a:t>
            </a:r>
            <a:r>
              <a:rPr lang="en-US" b="1" dirty="0" err="1"/>
              <a:t>giai</a:t>
            </a:r>
            <a:r>
              <a:rPr lang="en-US" b="1" dirty="0"/>
              <a:t> </a:t>
            </a:r>
            <a:r>
              <a:rPr lang="en-US" b="1" dirty="0" err="1"/>
              <a:t>đoạn</a:t>
            </a:r>
            <a:r>
              <a:rPr lang="en-US" b="1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vi-VN" b="1" dirty="0"/>
              <a:t>Palm Detector (Bộ phát hiện lòng bàn tay):</a:t>
            </a:r>
            <a:endParaRPr lang="vi-VN" dirty="0"/>
          </a:p>
          <a:p>
            <a:r>
              <a:rPr lang="vi-VN" dirty="0"/>
              <a:t>Xác định vùng chứa bàn tay trong khung hình. Hoạt động ổn định hơn so với việc phát hiện ngón tay (vốn dễ biến dạng).</a:t>
            </a:r>
            <a:endParaRPr lang="en-US" dirty="0"/>
          </a:p>
          <a:p>
            <a:r>
              <a:rPr lang="en-US" b="1" dirty="0"/>
              <a:t>2.   </a:t>
            </a:r>
            <a:r>
              <a:rPr lang="vi-VN" b="1" dirty="0"/>
              <a:t>Hand Landmark Model:</a:t>
            </a:r>
            <a:endParaRPr lang="vi-VN" dirty="0"/>
          </a:p>
          <a:p>
            <a:r>
              <a:rPr lang="vi-VN" dirty="0"/>
              <a:t>Trích xuất 21 tọa độ 3D (x, y, z) tại các khớp xương và đầu ngón tay.</a:t>
            </a:r>
          </a:p>
          <a:p>
            <a:r>
              <a:rPr lang="en-US" dirty="0"/>
              <a:t>	</a:t>
            </a:r>
            <a:endParaRPr lang="vi-VN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20160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8D94-D01A-9A20-4C38-F7510817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6A479C24-76E4-2C48-30E0-2F2AE8248A49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FAD43DE6-DB27-F0D6-D8DA-DD5DB8EE6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7BB4AA69-00C4-984C-3EA8-4F8BA3C225DF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C662087E-D580-7755-6683-1E7826CB3C3D}"/>
              </a:ext>
            </a:extLst>
          </p:cNvPr>
          <p:cNvSpPr txBox="1"/>
          <p:nvPr/>
        </p:nvSpPr>
        <p:spPr>
          <a:xfrm>
            <a:off x="0" y="1161288"/>
            <a:ext cx="103273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2.3.3 Web Server (Giao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người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dùng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khiển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94A547-D2B3-DB24-BC72-8BB28E9CCB3C}"/>
              </a:ext>
            </a:extLst>
          </p:cNvPr>
          <p:cNvSpPr txBox="1"/>
          <p:nvPr/>
        </p:nvSpPr>
        <p:spPr>
          <a:xfrm>
            <a:off x="151964" y="1972764"/>
            <a:ext cx="74884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/>
              <a:t>Thiết</a:t>
            </a:r>
            <a:r>
              <a:rPr lang="en-US" sz="3200" b="1" dirty="0"/>
              <a:t> </a:t>
            </a:r>
            <a:r>
              <a:rPr lang="en-US" sz="3200" b="1" dirty="0" err="1"/>
              <a:t>kế</a:t>
            </a:r>
            <a:r>
              <a:rPr lang="en-US" sz="3200" b="1" dirty="0"/>
              <a:t> </a:t>
            </a:r>
            <a:r>
              <a:rPr lang="en-US" sz="3200" b="1" dirty="0" err="1"/>
              <a:t>giao</a:t>
            </a:r>
            <a:r>
              <a:rPr lang="en-US" sz="3200" b="1" dirty="0"/>
              <a:t> </a:t>
            </a:r>
            <a:r>
              <a:rPr lang="en-US" sz="3200" b="1" dirty="0" err="1"/>
              <a:t>diện</a:t>
            </a:r>
            <a:r>
              <a:rPr lang="en-US" sz="3200" b="1" dirty="0"/>
              <a:t>(Frontend):</a:t>
            </a:r>
          </a:p>
          <a:p>
            <a:r>
              <a:rPr lang="en-US" sz="3200" dirty="0"/>
              <a:t>	</a:t>
            </a:r>
            <a:endParaRPr lang="vi-VN" sz="3200" dirty="0"/>
          </a:p>
          <a:p>
            <a:endParaRPr lang="en-US" sz="32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B9D9A1-4D75-7619-80BA-903811F53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82" y="2684419"/>
            <a:ext cx="5199807" cy="29068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10E618-E4DE-0513-3477-FFF1D224D1AE}"/>
              </a:ext>
            </a:extLst>
          </p:cNvPr>
          <p:cNvSpPr txBox="1"/>
          <p:nvPr/>
        </p:nvSpPr>
        <p:spPr>
          <a:xfrm>
            <a:off x="6611022" y="1972764"/>
            <a:ext cx="42313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Logic </a:t>
            </a:r>
            <a:r>
              <a:rPr lang="en-US" sz="3200" b="1" dirty="0" err="1"/>
              <a:t>truyền</a:t>
            </a:r>
            <a:r>
              <a:rPr lang="en-US" sz="3200" b="1" dirty="0"/>
              <a:t> tin MQTT</a:t>
            </a:r>
            <a:r>
              <a:rPr lang="en-US" sz="3200" dirty="0"/>
              <a:t>	</a:t>
            </a:r>
            <a:endParaRPr lang="vi-VN" sz="3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2A802F3-56FE-1CBC-F668-1B55CAF73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270" y="2703035"/>
            <a:ext cx="4734586" cy="7335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655509-B3ED-E41A-AEB4-98435F4672EB}"/>
              </a:ext>
            </a:extLst>
          </p:cNvPr>
          <p:cNvSpPr txBox="1"/>
          <p:nvPr/>
        </p:nvSpPr>
        <p:spPr>
          <a:xfrm>
            <a:off x="6322446" y="3672530"/>
            <a:ext cx="50984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Độ trễ thấp:</a:t>
            </a:r>
            <a:r>
              <a:rPr lang="vi-VN" dirty="0"/>
              <a:t> Thay thế HTTP truyền thống, tối ưu hóa tốc độ đóng/ngắt Relay.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trạng</a:t>
            </a:r>
            <a:r>
              <a:rPr lang="en-US" b="1" dirty="0"/>
              <a:t> </a:t>
            </a:r>
            <a:r>
              <a:rPr lang="en-US" b="1" dirty="0" err="1"/>
              <a:t>thái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Web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quán</a:t>
            </a:r>
            <a:r>
              <a:rPr lang="en-US" dirty="0"/>
              <a:t>.	</a:t>
            </a:r>
          </a:p>
        </p:txBody>
      </p:sp>
    </p:spTree>
    <p:extLst>
      <p:ext uri="{BB962C8B-B14F-4D97-AF65-F5344CB8AC3E}">
        <p14:creationId xmlns:p14="http://schemas.microsoft.com/office/powerpoint/2010/main" val="3512975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011BF-3B5B-B616-A10E-B2711F78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2BC0754-071D-86B2-6FBF-3769E68E671F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BBB9CDC5-4145-CDD4-EBF1-8B0CEE277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868B5594-1547-D53E-7935-0EB37D40E970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9AD2EF4F-EA43-3618-7D55-92678F499D84}"/>
              </a:ext>
            </a:extLst>
          </p:cNvPr>
          <p:cNvSpPr txBox="1"/>
          <p:nvPr/>
        </p:nvSpPr>
        <p:spPr>
          <a:xfrm>
            <a:off x="0" y="1161288"/>
            <a:ext cx="10327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2.3.4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thế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giao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thức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MQTT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en-US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11A689-E2EC-5D11-C621-7258D7CF18BF}"/>
              </a:ext>
            </a:extLst>
          </p:cNvPr>
          <p:cNvSpPr txBox="1"/>
          <p:nvPr/>
        </p:nvSpPr>
        <p:spPr>
          <a:xfrm>
            <a:off x="151964" y="1935943"/>
            <a:ext cx="748849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en-US" sz="3200" b="1" dirty="0" err="1"/>
              <a:t>Khái</a:t>
            </a:r>
            <a:r>
              <a:rPr lang="en-US" sz="3200" b="1" dirty="0"/>
              <a:t> </a:t>
            </a:r>
            <a:r>
              <a:rPr lang="en-US" sz="3200" b="1" dirty="0" err="1"/>
              <a:t>niệm</a:t>
            </a:r>
            <a:r>
              <a:rPr lang="en-US" sz="3200" b="1" dirty="0"/>
              <a:t> </a:t>
            </a:r>
            <a:r>
              <a:rPr lang="en-US" sz="3200" b="1" dirty="0" err="1"/>
              <a:t>cốt</a:t>
            </a:r>
            <a:r>
              <a:rPr lang="en-US" sz="3200" b="1" dirty="0"/>
              <a:t> </a:t>
            </a:r>
            <a:r>
              <a:rPr lang="en-US" sz="3200" b="1" dirty="0" err="1"/>
              <a:t>lõi</a:t>
            </a:r>
            <a:r>
              <a:rPr lang="en-US" sz="3200" b="1" dirty="0"/>
              <a:t>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giao</a:t>
            </a:r>
            <a:r>
              <a:rPr lang="en-US" sz="3200" b="1" dirty="0"/>
              <a:t> </a:t>
            </a:r>
            <a:r>
              <a:rPr lang="en-US" sz="3200" b="1" dirty="0" err="1"/>
              <a:t>thức</a:t>
            </a:r>
            <a:r>
              <a:rPr lang="en-US" sz="3200" b="1" dirty="0"/>
              <a:t> MQTT</a:t>
            </a:r>
          </a:p>
          <a:p>
            <a:r>
              <a:rPr lang="en-US" sz="3200" dirty="0"/>
              <a:t>	</a:t>
            </a:r>
            <a:endParaRPr lang="vi-VN" sz="3200" dirty="0"/>
          </a:p>
          <a:p>
            <a:endParaRPr lang="en-US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F27817-22BF-7E03-5807-DD06AFFD1DF6}"/>
              </a:ext>
            </a:extLst>
          </p:cNvPr>
          <p:cNvSpPr txBox="1"/>
          <p:nvPr/>
        </p:nvSpPr>
        <p:spPr>
          <a:xfrm>
            <a:off x="151964" y="2672213"/>
            <a:ext cx="836318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Topic (</a:t>
            </a:r>
            <a:r>
              <a:rPr lang="en-US" b="1" dirty="0" err="1"/>
              <a:t>Chủ</a:t>
            </a:r>
            <a:r>
              <a:rPr lang="en-US" b="1" dirty="0"/>
              <a:t> </a:t>
            </a:r>
            <a:r>
              <a:rPr lang="en-US" b="1" dirty="0" err="1"/>
              <a:t>đề</a:t>
            </a:r>
            <a:r>
              <a:rPr lang="en-US" b="1" dirty="0"/>
              <a:t>): </a:t>
            </a:r>
            <a:r>
              <a:rPr lang="en-US" dirty="0" err="1"/>
              <a:t>Là</a:t>
            </a:r>
            <a:r>
              <a:rPr lang="en-US" dirty="0"/>
              <a:t> "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"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nhánh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VD:</a:t>
            </a:r>
            <a:r>
              <a:rPr lang="en-US" dirty="0"/>
              <a:t> </a:t>
            </a:r>
            <a:r>
              <a:rPr lang="en-US" dirty="0" err="1"/>
              <a:t>nha</a:t>
            </a:r>
            <a:r>
              <a:rPr lang="en-US" dirty="0"/>
              <a:t>/</a:t>
            </a:r>
            <a:r>
              <a:rPr lang="en-US" dirty="0" err="1"/>
              <a:t>phong_khach</a:t>
            </a:r>
            <a:r>
              <a:rPr lang="en-US" dirty="0"/>
              <a:t>/den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Publish (</a:t>
            </a:r>
            <a:r>
              <a:rPr lang="en-US" b="1" dirty="0" err="1"/>
              <a:t>Gửi</a:t>
            </a:r>
            <a:r>
              <a:rPr lang="en-US" b="1" dirty="0"/>
              <a:t>): </a:t>
            </a:r>
            <a:r>
              <a:rPr lang="vi-VN" dirty="0"/>
              <a:t>Hành động ném dữ liệu kèm nhãn Topic lên Broker mà không cần biết người nhận.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Subscribe (</a:t>
            </a:r>
            <a:r>
              <a:rPr lang="en-US" b="1" dirty="0" err="1"/>
              <a:t>Nhận</a:t>
            </a:r>
            <a:r>
              <a:rPr lang="en-US" b="1" dirty="0"/>
              <a:t>):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Topic. Broker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Subscriber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.</a:t>
            </a:r>
            <a:endParaRPr lang="en-US" b="1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39185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A310E-4940-8E35-17C5-A806DB0D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F04E3E53-106C-F7BB-9A52-D4CA41F82B61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2C48A1E2-A941-472A-DD36-A7CE6AB62A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F1F8E22E-45CE-A2E2-8A5D-67E049740EA1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44B42FEF-0161-1F9E-849A-B21747DBA850}"/>
              </a:ext>
            </a:extLst>
          </p:cNvPr>
          <p:cNvSpPr txBox="1"/>
          <p:nvPr/>
        </p:nvSpPr>
        <p:spPr>
          <a:xfrm>
            <a:off x="0" y="1161288"/>
            <a:ext cx="10327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2.3.4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Ưu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thế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giao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thức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MQTT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trong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en-US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F18066-9B06-570A-D2A0-89B2AAB53C00}"/>
              </a:ext>
            </a:extLst>
          </p:cNvPr>
          <p:cNvSpPr txBox="1"/>
          <p:nvPr/>
        </p:nvSpPr>
        <p:spPr>
          <a:xfrm>
            <a:off x="244017" y="1859340"/>
            <a:ext cx="1086993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B. </a:t>
            </a:r>
            <a:r>
              <a:rPr lang="vi-VN" sz="3200" b="1" cap="all" dirty="0">
                <a:latin typeface="Aptos" panose="020B0004020202020204" pitchFamily="34" charset="0"/>
              </a:rPr>
              <a:t>Ưu thế vượt trội của MQTT trong hệ thống</a:t>
            </a:r>
          </a:p>
          <a:p>
            <a:r>
              <a:rPr lang="en-US" sz="3200" dirty="0"/>
              <a:t>	</a:t>
            </a:r>
            <a:endParaRPr lang="vi-VN" sz="3200" dirty="0"/>
          </a:p>
          <a:p>
            <a:endParaRPr lang="en-US" sz="32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5FB49E-FB78-510B-C5D8-464DB5D1DF09}"/>
              </a:ext>
            </a:extLst>
          </p:cNvPr>
          <p:cNvSpPr txBox="1"/>
          <p:nvPr/>
        </p:nvSpPr>
        <p:spPr>
          <a:xfrm>
            <a:off x="151964" y="2672213"/>
            <a:ext cx="83631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Tối ưu thiết bị nhúng (Lightweight)</a:t>
            </a:r>
            <a:r>
              <a:rPr lang="en-US" b="1" dirty="0"/>
              <a:t>: </a:t>
            </a:r>
            <a:r>
              <a:rPr lang="en-US" dirty="0"/>
              <a:t>Header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2 byte,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ESP32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HTTP.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Cơ chế "Đẩy" (Real-time)</a:t>
            </a:r>
            <a:r>
              <a:rPr lang="en-US" b="1" dirty="0"/>
              <a:t>: </a:t>
            </a:r>
            <a:r>
              <a:rPr lang="vi-VN" dirty="0"/>
              <a:t>Dữ liệu truyền tức thì khi có sự kiện (Event-driven). Phản hồi Relay gần như không có độ trễ.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Mạng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ổn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: </a:t>
            </a:r>
            <a:r>
              <a:rPr lang="en-US" dirty="0"/>
              <a:t>Duy </a:t>
            </a:r>
            <a:r>
              <a:rPr lang="en-US" dirty="0" err="1"/>
              <a:t>trì</a:t>
            </a:r>
            <a:r>
              <a:rPr lang="en-US" dirty="0"/>
              <a:t> "Keep Alive"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 </a:t>
            </a:r>
            <a:r>
              <a:rPr lang="en-US" b="1" dirty="0"/>
              <a:t>QoS </a:t>
            </a:r>
            <a:r>
              <a:rPr lang="en-US" b="1" dirty="0" err="1"/>
              <a:t>mức</a:t>
            </a:r>
            <a:r>
              <a:rPr lang="en-US" b="1" dirty="0"/>
              <a:t> 1</a:t>
            </a:r>
            <a:r>
              <a:rPr lang="en-US" dirty="0"/>
              <a:t> 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tin </a:t>
            </a:r>
            <a:r>
              <a:rPr lang="en-US" dirty="0" err="1"/>
              <a:t>nhắn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1 </a:t>
            </a:r>
            <a:r>
              <a:rPr lang="en-US" dirty="0" err="1"/>
              <a:t>lần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Tiết kiệm năng lượng</a:t>
            </a:r>
            <a:r>
              <a:rPr lang="en-US" b="1" dirty="0"/>
              <a:t>: </a:t>
            </a:r>
            <a:r>
              <a:rPr lang="en-US" dirty="0"/>
              <a:t>ESP32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thăm</a:t>
            </a:r>
            <a:r>
              <a:rPr lang="en-US" dirty="0"/>
              <a:t> </a:t>
            </a:r>
            <a:r>
              <a:rPr lang="en-US" dirty="0" err="1"/>
              <a:t>dò</a:t>
            </a:r>
            <a:r>
              <a:rPr lang="en-US" dirty="0"/>
              <a:t> (polling) Server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gánh</a:t>
            </a:r>
            <a:r>
              <a:rPr lang="en-US" dirty="0"/>
              <a:t> </a:t>
            </a:r>
            <a:r>
              <a:rPr lang="en-US" dirty="0" err="1"/>
              <a:t>nặng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31609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0358-8729-1EFB-AEB9-79596777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93E8520-45AC-B8F6-82A5-811E7CCC974B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9F1BA951-7612-61A4-9119-F6264E22C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A86B17E6-7C98-473B-DA55-0B612A1B7E03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II. THIẾT KẾ KIẾN TRÚC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B63E6C0D-92AA-C11B-B07A-3ABEA5FFA6F1}"/>
              </a:ext>
            </a:extLst>
          </p:cNvPr>
          <p:cNvSpPr txBox="1"/>
          <p:nvPr/>
        </p:nvSpPr>
        <p:spPr>
          <a:xfrm>
            <a:off x="0" y="1161288"/>
            <a:ext cx="10327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2.3.5 CLOUD (HIVEMQ BROKER)</a:t>
            </a:r>
          </a:p>
          <a:p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D52DBE-3A8F-1B3B-27CB-83CEEF969D5B}"/>
              </a:ext>
            </a:extLst>
          </p:cNvPr>
          <p:cNvSpPr txBox="1"/>
          <p:nvPr/>
        </p:nvSpPr>
        <p:spPr>
          <a:xfrm>
            <a:off x="84458" y="2238506"/>
            <a:ext cx="49600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  Trung </a:t>
            </a:r>
            <a:r>
              <a:rPr lang="en-US" b="1" dirty="0" err="1"/>
              <a:t>tâm</a:t>
            </a:r>
            <a:r>
              <a:rPr lang="en-US" b="1" dirty="0"/>
              <a:t>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phối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điệp</a:t>
            </a:r>
            <a:r>
              <a:rPr lang="en-US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Mô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Pub/Sub:</a:t>
            </a:r>
            <a:r>
              <a:rPr lang="en-US" dirty="0"/>
              <a:t> 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(AI) </a:t>
            </a:r>
            <a:r>
              <a:rPr lang="en-US" dirty="0" err="1"/>
              <a:t>và</a:t>
            </a:r>
            <a:r>
              <a:rPr lang="en-US" dirty="0"/>
              <a:t> ESP32 </a:t>
            </a:r>
            <a:r>
              <a:rPr lang="en-US" dirty="0" err="1"/>
              <a:t>thông</a:t>
            </a:r>
            <a:r>
              <a:rPr lang="en-US" dirty="0"/>
              <a:t> qua Topic 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trễ</a:t>
            </a:r>
            <a:r>
              <a:rPr lang="en-US" b="1" dirty="0"/>
              <a:t> </a:t>
            </a:r>
            <a:r>
              <a:rPr lang="en-US" b="1" dirty="0" err="1"/>
              <a:t>thấp</a:t>
            </a:r>
            <a:r>
              <a:rPr lang="en-US" b="1" dirty="0"/>
              <a:t>:</a:t>
            </a:r>
            <a:r>
              <a:rPr lang="en-US" dirty="0"/>
              <a:t> Duy </a:t>
            </a:r>
            <a:r>
              <a:rPr lang="en-US" dirty="0" err="1"/>
              <a:t>trì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(session) </a:t>
            </a:r>
            <a:r>
              <a:rPr lang="en-US" dirty="0" err="1"/>
              <a:t>bền</a:t>
            </a:r>
            <a:r>
              <a:rPr lang="en-US" dirty="0"/>
              <a:t> </a:t>
            </a:r>
            <a:r>
              <a:rPr lang="en-US" dirty="0" err="1"/>
              <a:t>vững</a:t>
            </a:r>
            <a:r>
              <a:rPr lang="en-US" dirty="0"/>
              <a:t>,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mạng</a:t>
            </a:r>
            <a:r>
              <a:rPr lang="en-US" dirty="0"/>
              <a:t> dao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Linh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 Cloud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đâu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Internet.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03A66-CCBD-99CD-D525-A58AFA1587BE}"/>
              </a:ext>
            </a:extLst>
          </p:cNvPr>
          <p:cNvSpPr txBox="1"/>
          <p:nvPr/>
        </p:nvSpPr>
        <p:spPr>
          <a:xfrm>
            <a:off x="5599933" y="2238506"/>
            <a:ext cx="61798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  Bảo </a:t>
            </a:r>
            <a:r>
              <a:rPr lang="en-US" b="1" dirty="0" err="1"/>
              <a:t>mật</a:t>
            </a:r>
            <a:r>
              <a:rPr lang="en-US" b="1" dirty="0"/>
              <a:t> &amp; Tin </a:t>
            </a:r>
            <a:r>
              <a:rPr lang="en-US" b="1" dirty="0" err="1"/>
              <a:t>cậy</a:t>
            </a:r>
            <a:r>
              <a:rPr lang="en-US" sz="1600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định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Username/Password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 esp32.js 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hóa</a:t>
            </a:r>
            <a:r>
              <a:rPr lang="en-US" b="1" dirty="0"/>
              <a:t> </a:t>
            </a:r>
            <a:r>
              <a:rPr lang="en-US" b="1" dirty="0" err="1"/>
              <a:t>dữ</a:t>
            </a:r>
            <a:r>
              <a:rPr lang="en-US" b="1" dirty="0"/>
              <a:t> </a:t>
            </a:r>
            <a:r>
              <a:rPr lang="en-US" b="1" dirty="0" err="1"/>
              <a:t>liệu</a:t>
            </a:r>
            <a:r>
              <a:rPr lang="en-US" b="1" dirty="0"/>
              <a:t> TLS/SSL:</a:t>
            </a:r>
            <a:r>
              <a:rPr lang="en-US" dirty="0"/>
              <a:t> 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tấn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cắp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	</a:t>
            </a:r>
          </a:p>
          <a:p>
            <a:r>
              <a:rPr lang="en-US" dirty="0"/>
              <a:t>      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BDEF10-22F0-951D-CCA4-6F339A7AB712}"/>
              </a:ext>
            </a:extLst>
          </p:cNvPr>
          <p:cNvSpPr txBox="1"/>
          <p:nvPr/>
        </p:nvSpPr>
        <p:spPr>
          <a:xfrm>
            <a:off x="6357842" y="3669667"/>
            <a:ext cx="40319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Cổng</a:t>
            </a:r>
            <a:r>
              <a:rPr lang="en-US" dirty="0"/>
              <a:t> </a:t>
            </a:r>
            <a:r>
              <a:rPr lang="en-US" b="1" dirty="0"/>
              <a:t>8883</a:t>
            </a:r>
            <a:r>
              <a:rPr lang="en-US" dirty="0"/>
              <a:t>: TLS/SSL (MQTTS)	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Cổng</a:t>
            </a:r>
            <a:r>
              <a:rPr lang="en-US" dirty="0"/>
              <a:t> </a:t>
            </a:r>
            <a:r>
              <a:rPr lang="en-US" b="1" dirty="0"/>
              <a:t>8884</a:t>
            </a:r>
            <a:r>
              <a:rPr lang="en-US" dirty="0"/>
              <a:t>: WebSocket (WSS)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941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2D9A4-5316-3841-4CF6-32D0C5A55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68816684-8346-1519-9D7F-E89793ED532C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E1011CFC-D568-3765-FD9C-9EF6926A7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691AA971-B594-9613-0A9B-A5E5D0F068FE}"/>
              </a:ext>
            </a:extLst>
          </p:cNvPr>
          <p:cNvSpPr txBox="1"/>
          <p:nvPr/>
        </p:nvSpPr>
        <p:spPr>
          <a:xfrm>
            <a:off x="190301" y="3039862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Lập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trình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ESP32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F1D7FA13-A37B-279E-42E4-D0666286F2E9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0E0F228D-59DD-5DFF-916C-BCB203E88A12}"/>
              </a:ext>
            </a:extLst>
          </p:cNvPr>
          <p:cNvSpPr txBox="1"/>
          <p:nvPr/>
        </p:nvSpPr>
        <p:spPr>
          <a:xfrm>
            <a:off x="190301" y="1409225"/>
            <a:ext cx="112305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lập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server MQTT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nền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tảng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cloud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HiveMQ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7E930328-B471-1CCA-A6DC-1003E02644DE}"/>
              </a:ext>
            </a:extLst>
          </p:cNvPr>
          <p:cNvSpPr txBox="1"/>
          <p:nvPr/>
        </p:nvSpPr>
        <p:spPr>
          <a:xfrm>
            <a:off x="190301" y="4054947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Xây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giao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Hộp Văn bản 1">
            <a:extLst>
              <a:ext uri="{FF2B5EF4-FFF2-40B4-BE49-F238E27FC236}">
                <a16:creationId xmlns:a16="http://schemas.microsoft.com/office/drawing/2014/main" id="{35F1295F-F072-FCE2-DA28-6E321B81B830}"/>
              </a:ext>
            </a:extLst>
          </p:cNvPr>
          <p:cNvSpPr txBox="1"/>
          <p:nvPr/>
        </p:nvSpPr>
        <p:spPr>
          <a:xfrm>
            <a:off x="190301" y="5070032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3.4 Nhận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chỉ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95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A22C-BEE5-C808-1BA4-FA2126560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67624AC-C71D-4D5E-7D78-911676B8D92A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916E802C-8A12-0B68-EB76-A25E84065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4BFBEAC4-431B-CF07-1563-30ADAC2E7B87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5041C86D-C73E-E23A-AF8E-E9A616D9CDE0}"/>
              </a:ext>
            </a:extLst>
          </p:cNvPr>
          <p:cNvSpPr txBox="1"/>
          <p:nvPr/>
        </p:nvSpPr>
        <p:spPr>
          <a:xfrm>
            <a:off x="785582" y="1387989"/>
            <a:ext cx="112305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lập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server MQTT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nền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tảng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cloud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HiveMQ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7A7DCC-7753-9FF2-D825-A76EE2D7AF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083" y="2625511"/>
            <a:ext cx="6953061" cy="390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196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BBD9-9E74-26A6-89F0-5656179FE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4507BDFF-A909-6507-93E4-F7C7C1F9FE24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B694CD5C-F486-0E3B-E47B-B2BE92BA3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0C38DEDB-4E5D-5EED-0EC8-0246E74CB5AD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1A8479D9-B3ED-AC82-FD9A-CD4E72A6365E}"/>
              </a:ext>
            </a:extLst>
          </p:cNvPr>
          <p:cNvSpPr txBox="1"/>
          <p:nvPr/>
        </p:nvSpPr>
        <p:spPr>
          <a:xfrm>
            <a:off x="190301" y="1409225"/>
            <a:ext cx="114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3.1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lập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server MQTT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nền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tảng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cloud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HiveMQ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6EF5C-B82F-EDD5-9D5C-CD29B1DF142B}"/>
              </a:ext>
            </a:extLst>
          </p:cNvPr>
          <p:cNvSpPr txBox="1"/>
          <p:nvPr/>
        </p:nvSpPr>
        <p:spPr>
          <a:xfrm>
            <a:off x="5895471" y="1921418"/>
            <a:ext cx="6106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 err="1"/>
              <a:t>Khởi</a:t>
            </a:r>
            <a:r>
              <a:rPr lang="vi-VN" b="1" dirty="0"/>
              <a:t> tạo Cloud Cluster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536C1E-4A33-E327-594C-98568BD00A56}"/>
              </a:ext>
            </a:extLst>
          </p:cNvPr>
          <p:cNvSpPr txBox="1"/>
          <p:nvPr/>
        </p:nvSpPr>
        <p:spPr>
          <a:xfrm>
            <a:off x="5895471" y="2209149"/>
            <a:ext cx="61062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Open Sans" panose="020B0606030504020204" pitchFamily="34" charset="0"/>
              </a:rPr>
              <a:t>Hệ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thống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triển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khai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trên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hạ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tầng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HiveMQ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Cloud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,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cung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cấp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địa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chỉ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định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danh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duy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nhất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(Broker URL):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BA5A4D-C1E7-118D-A78C-112E5AFD87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4"/>
          <a:stretch>
            <a:fillRect/>
          </a:stretch>
        </p:blipFill>
        <p:spPr bwMode="auto">
          <a:xfrm>
            <a:off x="341486" y="2394000"/>
            <a:ext cx="5238115" cy="28536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C30C7A-6DCE-38CB-FCF1-F43CEE78DE51}"/>
              </a:ext>
            </a:extLst>
          </p:cNvPr>
          <p:cNvSpPr txBox="1"/>
          <p:nvPr/>
        </p:nvSpPr>
        <p:spPr>
          <a:xfrm>
            <a:off x="5895471" y="3451513"/>
            <a:ext cx="6106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b="1" i="0" dirty="0" err="1">
                <a:effectLst/>
                <a:latin typeface="Open Sans" panose="020B0606030504020204" pitchFamily="34" charset="0"/>
              </a:rPr>
              <a:t>Thiết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lập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giao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thức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kết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nối</a:t>
            </a:r>
            <a:endParaRPr lang="en-US" b="1" i="0" dirty="0">
              <a:effectLst/>
              <a:latin typeface="Open Sans" panose="020B0606030504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04E52C0-DBC3-C427-858E-D322E0E092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45" y="2821984"/>
            <a:ext cx="5001323" cy="37152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4E935BE-D2D2-26CD-6344-F90E0EA046EE}"/>
              </a:ext>
            </a:extLst>
          </p:cNvPr>
          <p:cNvSpPr txBox="1"/>
          <p:nvPr/>
        </p:nvSpPr>
        <p:spPr>
          <a:xfrm>
            <a:off x="5925217" y="3789544"/>
            <a:ext cx="61062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Cổng</a:t>
            </a:r>
            <a:r>
              <a:rPr lang="en-US" b="1" dirty="0"/>
              <a:t> 8883</a:t>
            </a:r>
            <a:r>
              <a:rPr lang="en-US" dirty="0"/>
              <a:t> </a:t>
            </a:r>
            <a:r>
              <a:rPr lang="en-US" b="1" dirty="0"/>
              <a:t>MQTT Standard: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 </a:t>
            </a:r>
            <a:r>
              <a:rPr lang="en-US" b="1" dirty="0"/>
              <a:t>TLS/SSL</a:t>
            </a:r>
            <a:r>
              <a:rPr lang="en-US" dirty="0"/>
              <a:t> 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2 </a:t>
            </a:r>
            <a:r>
              <a:rPr lang="en-US" dirty="0" err="1"/>
              <a:t>chiều</a:t>
            </a:r>
            <a:r>
              <a:rPr lang="en-US" dirty="0"/>
              <a:t>: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⬌ Broker ⬌ ESP32.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Cổng</a:t>
            </a:r>
            <a:r>
              <a:rPr lang="en-US" b="1" dirty="0"/>
              <a:t> 8884 / 443</a:t>
            </a:r>
            <a:r>
              <a:rPr lang="en-US" dirty="0"/>
              <a:t> </a:t>
            </a:r>
            <a:r>
              <a:rPr lang="en-US" b="1" dirty="0"/>
              <a:t>MQTT over </a:t>
            </a:r>
            <a:r>
              <a:rPr lang="en-US" b="1" dirty="0" err="1"/>
              <a:t>WebSockets</a:t>
            </a:r>
            <a:r>
              <a:rPr lang="en-US" b="1" dirty="0"/>
              <a:t>: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Web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.</a:t>
            </a:r>
            <a:endParaRPr lang="en-US" b="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383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5060A-7FDF-42CD-0A40-F017E4CD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C6EFA13-50BC-E4CA-116B-513B8343020C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73272A0D-EE5C-A049-08EE-5010311FC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9CFC1795-7E74-8EBC-9776-B80421CA0265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488D6AC8-EA3A-7916-AE47-559E40D7CAD4}"/>
              </a:ext>
            </a:extLst>
          </p:cNvPr>
          <p:cNvSpPr txBox="1"/>
          <p:nvPr/>
        </p:nvSpPr>
        <p:spPr>
          <a:xfrm>
            <a:off x="190301" y="1409225"/>
            <a:ext cx="1146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3.1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lập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server MQTT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trên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nền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tảng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cloud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của</a:t>
            </a:r>
            <a:r>
              <a:rPr lang="en-US" sz="32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HiveMQ</a:t>
            </a:r>
            <a:endParaRPr lang="vi-VN" sz="32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D5DA06-0857-FAA9-6112-39D5A8942378}"/>
              </a:ext>
            </a:extLst>
          </p:cNvPr>
          <p:cNvSpPr txBox="1"/>
          <p:nvPr/>
        </p:nvSpPr>
        <p:spPr>
          <a:xfrm>
            <a:off x="5821950" y="2660082"/>
            <a:ext cx="55989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Quản </a:t>
            </a:r>
            <a:r>
              <a:rPr lang="en-US" b="1" dirty="0" err="1"/>
              <a:t>lí</a:t>
            </a:r>
            <a:r>
              <a:rPr lang="en-US" b="1" dirty="0"/>
              <a:t> </a:t>
            </a:r>
            <a:r>
              <a:rPr lang="en-US" b="1" dirty="0" err="1"/>
              <a:t>danh</a:t>
            </a:r>
            <a:r>
              <a:rPr lang="en-US" b="1" dirty="0"/>
              <a:t> </a:t>
            </a:r>
            <a:r>
              <a:rPr lang="en-US" b="1" dirty="0" err="1"/>
              <a:t>tính:Xác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truy</a:t>
            </a:r>
            <a:r>
              <a:rPr lang="en-US" b="1" dirty="0"/>
              <a:t> </a:t>
            </a:r>
            <a:r>
              <a:rPr lang="en-US" b="1" dirty="0" err="1"/>
              <a:t>cập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ngặt</a:t>
            </a:r>
            <a:r>
              <a:rPr lang="en-US" dirty="0"/>
              <a:t>.</a:t>
            </a:r>
            <a:endParaRPr lang="en-US" b="1" dirty="0"/>
          </a:p>
          <a:p>
            <a:pPr lvl="0"/>
            <a:endParaRPr lang="en-US" b="1" dirty="0"/>
          </a:p>
          <a:p>
            <a:pPr lvl="0"/>
            <a:endParaRPr lang="en-US" b="1" dirty="0"/>
          </a:p>
          <a:p>
            <a:pPr lvl="0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A0165B-9060-C2D6-48E7-56AF5C0D2220}"/>
              </a:ext>
            </a:extLst>
          </p:cNvPr>
          <p:cNvSpPr txBox="1"/>
          <p:nvPr/>
        </p:nvSpPr>
        <p:spPr>
          <a:xfrm>
            <a:off x="5925217" y="3398746"/>
            <a:ext cx="61062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qua </a:t>
            </a:r>
            <a:r>
              <a:rPr lang="en-US" b="1" dirty="0"/>
              <a:t>Username</a:t>
            </a:r>
            <a:r>
              <a:rPr lang="en-US" dirty="0"/>
              <a:t> </a:t>
            </a:r>
            <a:r>
              <a:rPr lang="en-US" dirty="0" err="1"/>
              <a:t>và</a:t>
            </a:r>
            <a:r>
              <a:rPr lang="en-US" dirty="0"/>
              <a:t> </a:t>
            </a:r>
            <a:r>
              <a:rPr lang="en-US" b="1" dirty="0"/>
              <a:t>Password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trái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kênh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388518-D883-E436-462E-7DDF1700B83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94"/>
          <a:stretch>
            <a:fillRect/>
          </a:stretch>
        </p:blipFill>
        <p:spPr bwMode="auto">
          <a:xfrm>
            <a:off x="324553" y="2058567"/>
            <a:ext cx="5238115" cy="28536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917185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AFC8C-5A44-2FD8-7C41-8450B369B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084E00C6-4493-6E68-CA21-F4CBB9ABD520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265218A9-881F-FEAC-5ACD-66292E679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C503C208-D20F-5D4F-121F-64D140CDC8A8}"/>
              </a:ext>
            </a:extLst>
          </p:cNvPr>
          <p:cNvSpPr txBox="1"/>
          <p:nvPr/>
        </p:nvSpPr>
        <p:spPr>
          <a:xfrm>
            <a:off x="3584013" y="3194150"/>
            <a:ext cx="5142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Lập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trình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ESP32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17584826-6556-547E-4B33-E3E813693762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287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DAE9B-5406-27A8-426F-0BF45461F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14B53C5-42CA-B3FB-C6C1-2528C35E3C41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54E8D678-8987-DBB6-7883-2253EB326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80CE0204-219E-C93F-6504-6CB260B05F07}"/>
              </a:ext>
            </a:extLst>
          </p:cNvPr>
          <p:cNvSpPr txBox="1"/>
          <p:nvPr/>
        </p:nvSpPr>
        <p:spPr>
          <a:xfrm>
            <a:off x="98245" y="1161288"/>
            <a:ext cx="10119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3.2.1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Cấu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Hình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Kết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Nối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Wifi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CF77360E-FAFF-AC81-96BA-E44C1A515035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C991A-D61D-561D-0BA7-FCC9A6F8C6AE}"/>
              </a:ext>
            </a:extLst>
          </p:cNvPr>
          <p:cNvSpPr txBox="1"/>
          <p:nvPr/>
        </p:nvSpPr>
        <p:spPr>
          <a:xfrm>
            <a:off x="490953" y="1911209"/>
            <a:ext cx="4136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sz="2000" b="1" i="0" dirty="0">
                <a:effectLst/>
                <a:latin typeface="Open Sans" panose="020B0606030504020204" pitchFamily="34" charset="0"/>
              </a:rPr>
              <a:t>Quy </a:t>
            </a:r>
            <a:r>
              <a:rPr lang="en-US" sz="2000" b="1" i="0" dirty="0" err="1">
                <a:effectLst/>
                <a:latin typeface="Open Sans" panose="020B0606030504020204" pitchFamily="34" charset="0"/>
              </a:rPr>
              <a:t>trình</a:t>
            </a:r>
            <a:r>
              <a:rPr lang="en-US" sz="2000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sz="2000" b="1" i="0" dirty="0" err="1">
                <a:effectLst/>
                <a:latin typeface="Open Sans" panose="020B0606030504020204" pitchFamily="34" charset="0"/>
              </a:rPr>
              <a:t>thực</a:t>
            </a:r>
            <a:r>
              <a:rPr lang="en-US" sz="2000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sz="2000" b="1" i="0" dirty="0" err="1">
                <a:effectLst/>
                <a:latin typeface="Open Sans" panose="020B0606030504020204" pitchFamily="34" charset="0"/>
              </a:rPr>
              <a:t>hiện</a:t>
            </a:r>
            <a:r>
              <a:rPr lang="en-US" sz="2000" b="1" i="0" dirty="0">
                <a:effectLst/>
                <a:latin typeface="Open Sans" panose="020B0606030504020204" pitchFamily="34" charset="0"/>
              </a:rPr>
              <a:t> (Setup)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B55540-29D6-CA84-B402-BD938CAC3EA3}"/>
              </a:ext>
            </a:extLst>
          </p:cNvPr>
          <p:cNvSpPr txBox="1"/>
          <p:nvPr/>
        </p:nvSpPr>
        <p:spPr>
          <a:xfrm>
            <a:off x="490953" y="2415255"/>
            <a:ext cx="6161460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i="0" dirty="0">
                <a:effectLst/>
                <a:latin typeface="Open Sans" panose="020B0606030504020204" pitchFamily="34" charset="0"/>
              </a:rPr>
              <a:t>Thiết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lập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thông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số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:</a:t>
            </a:r>
            <a:endParaRPr lang="en-US" dirty="0"/>
          </a:p>
          <a:p>
            <a:pPr algn="l">
              <a:spcBef>
                <a:spcPts val="375"/>
              </a:spcBef>
              <a:spcAft>
                <a:spcPts val="375"/>
              </a:spcAft>
              <a:buNone/>
            </a:pPr>
            <a:r>
              <a:rPr lang="en-US" b="0" i="0" dirty="0">
                <a:effectLst/>
                <a:latin typeface="Open Sans" panose="020B0606030504020204" pitchFamily="34" charset="0"/>
              </a:rPr>
              <a:t>Khai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báo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SSID (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Tên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mạng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)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và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PASSWORD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ngay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tại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giai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đoạn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khởi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tạo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setup()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862F0-5B60-5932-9734-8C3A624304AA}"/>
              </a:ext>
            </a:extLst>
          </p:cNvPr>
          <p:cNvSpPr txBox="1"/>
          <p:nvPr/>
        </p:nvSpPr>
        <p:spPr>
          <a:xfrm>
            <a:off x="490953" y="3664308"/>
            <a:ext cx="61614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/>
              <a:t>2</a:t>
            </a:r>
            <a:r>
              <a:rPr lang="en-US" b="1" dirty="0"/>
              <a:t>.    </a:t>
            </a:r>
            <a:r>
              <a:rPr lang="vi-VN" b="1" dirty="0"/>
              <a:t>Vòng lặp chờ kết nối:</a:t>
            </a:r>
            <a:endParaRPr lang="vi-VN" dirty="0"/>
          </a:p>
          <a:p>
            <a:r>
              <a:rPr lang="vi-VN" dirty="0"/>
              <a:t>Sử dụng WiFi.status() để kiểm tra trạng thái liên tục cho đến khi nhận được IP cục bộ.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60A590-B6B1-FD29-8070-C78C7A132CDA}"/>
              </a:ext>
            </a:extLst>
          </p:cNvPr>
          <p:cNvSpPr txBox="1"/>
          <p:nvPr/>
        </p:nvSpPr>
        <p:spPr>
          <a:xfrm>
            <a:off x="490953" y="4877454"/>
            <a:ext cx="616146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/>
              <a:t>3</a:t>
            </a:r>
            <a:r>
              <a:rPr lang="en-US" b="1" dirty="0"/>
              <a:t>.    Xác </a:t>
            </a:r>
            <a:r>
              <a:rPr lang="en-US" b="1" dirty="0" err="1"/>
              <a:t>nhận</a:t>
            </a:r>
            <a:r>
              <a:rPr lang="en-US" b="1" dirty="0"/>
              <a:t> </a:t>
            </a:r>
            <a:r>
              <a:rPr lang="en-US" b="1" dirty="0" err="1"/>
              <a:t>sẵn</a:t>
            </a:r>
            <a:r>
              <a:rPr lang="en-US" b="1" dirty="0"/>
              <a:t> </a:t>
            </a:r>
            <a:r>
              <a:rPr lang="en-US" b="1" dirty="0" err="1"/>
              <a:t>sàng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Thông </a:t>
            </a:r>
            <a:r>
              <a:rPr lang="en-US" dirty="0" err="1"/>
              <a:t>báo</a:t>
            </a:r>
            <a:r>
              <a:rPr lang="en-US" dirty="0"/>
              <a:t> "Connected!" qua Serial Monitor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SSL/MQTT.</a:t>
            </a:r>
          </a:p>
        </p:txBody>
      </p:sp>
    </p:spTree>
    <p:extLst>
      <p:ext uri="{BB962C8B-B14F-4D97-AF65-F5344CB8AC3E}">
        <p14:creationId xmlns:p14="http://schemas.microsoft.com/office/powerpoint/2010/main" val="40966039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7CF36-6025-43BC-AEB1-8B302E17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0D2D945B-E873-3566-F626-0ADED4E15A92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486D9CFE-923B-7F94-8BB5-0E60FB8260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81C03874-D638-0EB2-6479-02C4BECE994B}"/>
              </a:ext>
            </a:extLst>
          </p:cNvPr>
          <p:cNvSpPr txBox="1"/>
          <p:nvPr/>
        </p:nvSpPr>
        <p:spPr>
          <a:xfrm>
            <a:off x="98245" y="1161288"/>
            <a:ext cx="101197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3.2.2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lệnh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khiển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A478ADE6-57C5-92AF-1780-D3581699D940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7572CF-2107-FF46-E8BE-DDD5AE01F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430" y="2034277"/>
            <a:ext cx="10807103" cy="435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312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B37D-BC86-FDF5-4B33-383F56D8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5C56191-51C3-8E9C-AA52-C0AF7AF79427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84E8A79B-C6FA-C628-8BE9-77A80D1E8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35782F8-7EC6-A539-2E6D-A6BDCAD4751F}"/>
              </a:ext>
            </a:extLst>
          </p:cNvPr>
          <p:cNvSpPr txBox="1"/>
          <p:nvPr/>
        </p:nvSpPr>
        <p:spPr>
          <a:xfrm>
            <a:off x="3095077" y="1451266"/>
            <a:ext cx="66278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Xây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dựng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giao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C0CAEDA6-23F8-9B57-CD49-73B7815A562B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3B68F2-473E-1D80-2A61-F0DF3E17F4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999" y="2253204"/>
            <a:ext cx="7532992" cy="433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810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282BD-C4F2-9B20-8893-13AB5BB0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08ED0A4-5E93-8FE9-AE8B-31447B5C7DE7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22BCF821-56B3-070A-8A7E-6367C7C14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ECAC59F7-A3A5-F139-C744-ECCA799E26D2}"/>
              </a:ext>
            </a:extLst>
          </p:cNvPr>
          <p:cNvSpPr txBox="1"/>
          <p:nvPr/>
        </p:nvSpPr>
        <p:spPr>
          <a:xfrm>
            <a:off x="118673" y="1161288"/>
            <a:ext cx="118544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3.3.1 Giao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khiển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chế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tác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đa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E620F7DD-1FFA-045E-187A-463F8643AA41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713583-D3D1-D472-CBDB-5698728378C1}"/>
              </a:ext>
            </a:extLst>
          </p:cNvPr>
          <p:cNvSpPr txBox="1"/>
          <p:nvPr/>
        </p:nvSpPr>
        <p:spPr>
          <a:xfrm>
            <a:off x="118673" y="2526762"/>
            <a:ext cx="3324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b="1" i="0">
                <a:effectLst/>
                <a:latin typeface="Open Sans" panose="020B0606030504020204" pitchFamily="34" charset="0"/>
              </a:rPr>
              <a:t>Cấu trúc Bảng điều khiển</a:t>
            </a:r>
            <a:endParaRPr lang="en-US" b="1" i="0" dirty="0">
              <a:effectLst/>
              <a:latin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6DCD9-25E0-209B-FA67-F3616F260476}"/>
              </a:ext>
            </a:extLst>
          </p:cNvPr>
          <p:cNvSpPr txBox="1"/>
          <p:nvPr/>
        </p:nvSpPr>
        <p:spPr>
          <a:xfrm>
            <a:off x="118673" y="2999684"/>
            <a:ext cx="5637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0" i="0" dirty="0">
                <a:effectLst/>
                <a:latin typeface="Open Sans" panose="020B0606030504020204" pitchFamily="34" charset="0"/>
              </a:rPr>
              <a:t>Được xây dựng trên nền tảng </a:t>
            </a:r>
            <a:r>
              <a:rPr lang="vi-VN" b="1" i="0" dirty="0">
                <a:effectLst/>
                <a:latin typeface="Open Sans" panose="020B0606030504020204" pitchFamily="34" charset="0"/>
              </a:rPr>
              <a:t>HTML5, CSS3, JavaScript</a:t>
            </a:r>
            <a:r>
              <a:rPr lang="vi-VN" b="0" i="0" dirty="0">
                <a:effectLst/>
                <a:latin typeface="Open Sans" panose="020B0606030504020204" pitchFamily="34" charset="0"/>
              </a:rPr>
              <a:t>, phân chia khu vực quản lý trực quan</a:t>
            </a:r>
            <a:r>
              <a:rPr lang="vi-VN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: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B2F664-E4E1-CF8E-4832-C8772516B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06" y="3828708"/>
            <a:ext cx="5249008" cy="7716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FAC48C7-0834-69F4-C5FB-85D30553AFA8}"/>
              </a:ext>
            </a:extLst>
          </p:cNvPr>
          <p:cNvSpPr txBox="1"/>
          <p:nvPr/>
        </p:nvSpPr>
        <p:spPr>
          <a:xfrm>
            <a:off x="6436292" y="2484727"/>
            <a:ext cx="37537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b="1" i="0" dirty="0" err="1">
                <a:effectLst/>
                <a:latin typeface="Open Sans" panose="020B0606030504020204" pitchFamily="34" charset="0"/>
              </a:rPr>
              <a:t>Đồng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bộ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trạng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thái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(State Sync)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4033BC-061F-6515-67D3-D409641D8BDA}"/>
              </a:ext>
            </a:extLst>
          </p:cNvPr>
          <p:cNvSpPr txBox="1"/>
          <p:nvPr/>
        </p:nvSpPr>
        <p:spPr>
          <a:xfrm>
            <a:off x="6427148" y="2854059"/>
            <a:ext cx="51013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 err="1">
                <a:effectLst/>
                <a:latin typeface="Open Sans" panose="020B0606030504020204" pitchFamily="34" charset="0"/>
              </a:rPr>
              <a:t>Đảm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bảo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tính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nhất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quán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giữa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thế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giới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thực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và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giao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diện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số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thông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qua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hàm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: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1C8A33-2C3C-8A5D-7FDE-ECD077802529}"/>
              </a:ext>
            </a:extLst>
          </p:cNvPr>
          <p:cNvSpPr txBox="1"/>
          <p:nvPr/>
        </p:nvSpPr>
        <p:spPr>
          <a:xfrm>
            <a:off x="6436292" y="3689557"/>
            <a:ext cx="6150278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effectLst/>
                <a:latin typeface="Open Sans" panose="020B0606030504020204" pitchFamily="34" charset="0"/>
              </a:rPr>
              <a:t>Lắng nghe phản hồi xác nhận từ ESP32.</a:t>
            </a:r>
          </a:p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effectLst/>
                <a:latin typeface="Open Sans" panose="020B0606030504020204" pitchFamily="34" charset="0"/>
              </a:rPr>
              <a:t>Cập nhật ngay lập tức giao diện người dùng (UI).</a:t>
            </a:r>
          </a:p>
          <a:p>
            <a:pPr algn="l"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vi-VN" b="0" i="0" dirty="0">
                <a:effectLst/>
                <a:latin typeface="Open Sans" panose="020B0606030504020204" pitchFamily="34" charset="0"/>
              </a:rPr>
              <a:t>Xử lý bất đồng bộ, không gây gián đoạn trải </a:t>
            </a:r>
            <a:r>
              <a:rPr lang="vi-VN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nghiệm.</a:t>
            </a:r>
          </a:p>
        </p:txBody>
      </p:sp>
    </p:spTree>
    <p:extLst>
      <p:ext uri="{BB962C8B-B14F-4D97-AF65-F5344CB8AC3E}">
        <p14:creationId xmlns:p14="http://schemas.microsoft.com/office/powerpoint/2010/main" val="41059101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5D55-AE76-4226-4E86-899A20A9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E8B31C7D-2FC1-7042-719C-6096FF9D8803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0DFADA89-0511-9438-83F1-66422DF3A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742B6F2-32BF-C2DE-4BE9-3E297DD1AD9C}"/>
              </a:ext>
            </a:extLst>
          </p:cNvPr>
          <p:cNvSpPr txBox="1"/>
          <p:nvPr/>
        </p:nvSpPr>
        <p:spPr>
          <a:xfrm>
            <a:off x="118673" y="1161288"/>
            <a:ext cx="118544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3.3.1 Giao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diện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khiển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cơ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chế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tác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đa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thiết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bị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EA3D3EF7-25B3-5463-5361-EFACEAB50B67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7C297-6514-B02F-01FA-B90D56623CFD}"/>
              </a:ext>
            </a:extLst>
          </p:cNvPr>
          <p:cNvSpPr txBox="1"/>
          <p:nvPr/>
        </p:nvSpPr>
        <p:spPr>
          <a:xfrm>
            <a:off x="162839" y="2526762"/>
            <a:ext cx="4415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b="1" i="0" dirty="0">
                <a:effectLst/>
                <a:latin typeface="Open Sans" panose="020B0606030504020204" pitchFamily="34" charset="0"/>
              </a:rPr>
              <a:t>Giao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thức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điều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khiển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(Control Path)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A08FB8-E457-B60B-6064-9949994517CC}"/>
              </a:ext>
            </a:extLst>
          </p:cNvPr>
          <p:cNvSpPr txBox="1"/>
          <p:nvPr/>
        </p:nvSpPr>
        <p:spPr>
          <a:xfrm>
            <a:off x="162839" y="3038577"/>
            <a:ext cx="61502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Open Sans" panose="020B0606030504020204" pitchFamily="34" charset="0"/>
              </a:rPr>
              <a:t>JavaScript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đóng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gói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lệnh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thành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chuỗi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JSON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động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để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điều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khiển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đa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thiết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bị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trên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một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Topic:</a:t>
            </a:r>
          </a:p>
          <a:p>
            <a:pPr algn="l">
              <a:buNone/>
            </a:pPr>
            <a:r>
              <a:rPr lang="en-US" b="1" i="0" dirty="0">
                <a:effectLst/>
                <a:latin typeface="Courier New" panose="02070309020205020404" pitchFamily="49" charset="0"/>
              </a:rPr>
              <a:t>{"Door": 1}</a:t>
            </a:r>
          </a:p>
        </p:txBody>
      </p:sp>
    </p:spTree>
    <p:extLst>
      <p:ext uri="{BB962C8B-B14F-4D97-AF65-F5344CB8AC3E}">
        <p14:creationId xmlns:p14="http://schemas.microsoft.com/office/powerpoint/2010/main" val="30410276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8F611-E08A-EB53-6F2F-1304A27B4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654836D5-47F6-8CEA-94DE-8C94187AF17A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E78093AF-4875-8D46-A6D4-2AD6AEA34F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94C9066C-2CB9-88E1-52DD-440B2FF46F2B}"/>
              </a:ext>
            </a:extLst>
          </p:cNvPr>
          <p:cNvSpPr txBox="1"/>
          <p:nvPr/>
        </p:nvSpPr>
        <p:spPr>
          <a:xfrm>
            <a:off x="118673" y="1161288"/>
            <a:ext cx="11854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3.3.2 Hiển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thị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thái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B43EEB9A-A0BB-114B-B61D-8C02D8ABE0FE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00869-6087-84C5-D3F9-FDEACFEFEFB1}"/>
              </a:ext>
            </a:extLst>
          </p:cNvPr>
          <p:cNvSpPr txBox="1"/>
          <p:nvPr/>
        </p:nvSpPr>
        <p:spPr>
          <a:xfrm>
            <a:off x="118673" y="2039964"/>
            <a:ext cx="4226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b="1" i="0" dirty="0" err="1">
                <a:effectLst/>
                <a:latin typeface="Open Sans" panose="020B0606030504020204" pitchFamily="34" charset="0"/>
              </a:rPr>
              <a:t>Xử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lý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phản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hồi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(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onMessageArrived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F004C8-2F54-0C88-F1DE-0CB5FFBADAE1}"/>
              </a:ext>
            </a:extLst>
          </p:cNvPr>
          <p:cNvSpPr txBox="1"/>
          <p:nvPr/>
        </p:nvSpPr>
        <p:spPr>
          <a:xfrm>
            <a:off x="118673" y="2480985"/>
            <a:ext cx="498163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 err="1">
                <a:effectLst/>
                <a:latin typeface="Open Sans" panose="020B0606030504020204" pitchFamily="34" charset="0"/>
              </a:rPr>
              <a:t>Lắng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nghe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(Subscription):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Web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duy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trì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kết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nối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và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đăng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ký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Topic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trạng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thái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để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nhận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tin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từ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ESP32</a:t>
            </a:r>
            <a:r>
              <a:rPr lang="en-US" b="0" i="0" dirty="0">
                <a:solidFill>
                  <a:srgbClr val="FFFFFF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dirty="0"/>
              <a:t>Phân tích (Parsing):</a:t>
            </a:r>
            <a:r>
              <a:rPr lang="vi-VN" dirty="0"/>
              <a:t> Chuyển đổi </a:t>
            </a:r>
            <a:r>
              <a:rPr lang="vi-VN" b="1" dirty="0"/>
              <a:t>payloadString</a:t>
            </a:r>
            <a:r>
              <a:rPr lang="vi-VN" dirty="0"/>
              <a:t> thành đối tượng JSON để xử lý Logic.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Cập</a:t>
            </a:r>
            <a:r>
              <a:rPr lang="en-US" b="1" dirty="0"/>
              <a:t> </a:t>
            </a:r>
            <a:r>
              <a:rPr lang="en-US" b="1" dirty="0" err="1"/>
              <a:t>nhật</a:t>
            </a:r>
            <a:r>
              <a:rPr lang="en-US" b="1" dirty="0"/>
              <a:t> DOM:</a:t>
            </a:r>
            <a:r>
              <a:rPr lang="en-US" dirty="0"/>
              <a:t> 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Icon (Font Awesome) </a:t>
            </a:r>
            <a:r>
              <a:rPr lang="en-US" dirty="0" err="1"/>
              <a:t>và</a:t>
            </a:r>
            <a:r>
              <a:rPr lang="en-US" dirty="0"/>
              <a:t> Hiệu </a:t>
            </a:r>
            <a:r>
              <a:rPr lang="en-US" dirty="0" err="1"/>
              <a:t>ứng</a:t>
            </a:r>
            <a:r>
              <a:rPr lang="en-US" dirty="0"/>
              <a:t> CSS (</a:t>
            </a:r>
            <a:r>
              <a:rPr lang="en-US" b="1" dirty="0"/>
              <a:t>light-on</a:t>
            </a:r>
            <a:r>
              <a:rPr lang="en-US" dirty="0"/>
              <a:t>, </a:t>
            </a:r>
            <a:r>
              <a:rPr lang="en-US" b="1" dirty="0"/>
              <a:t>door-open</a:t>
            </a:r>
            <a:r>
              <a:rPr lang="en-US" dirty="0"/>
              <a:t>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81E05-B906-5D06-4EC2-35A3FEEAFBAF}"/>
              </a:ext>
            </a:extLst>
          </p:cNvPr>
          <p:cNvSpPr txBox="1"/>
          <p:nvPr/>
        </p:nvSpPr>
        <p:spPr>
          <a:xfrm>
            <a:off x="6168633" y="1984337"/>
            <a:ext cx="6152254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b="1" i="0" dirty="0">
                <a:effectLst/>
                <a:latin typeface="Open Sans" panose="020B0606030504020204" pitchFamily="34" charset="0"/>
              </a:rPr>
              <a:t>Trạng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thái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 Cloud</a:t>
            </a:r>
          </a:p>
          <a:p>
            <a:pPr algn="l">
              <a:buNone/>
            </a:pPr>
            <a:r>
              <a:rPr lang="en-US" b="0" i="0" dirty="0">
                <a:effectLst/>
                <a:latin typeface="Open Sans" panose="020B0606030504020204" pitchFamily="34" charset="0"/>
              </a:rPr>
              <a:t>Giám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sát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kết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nối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HiveMQ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Broker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thông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qua 3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sự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kiện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chính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: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onConnect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: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Kết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nối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thành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công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onFail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: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Lỗi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kết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nối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ban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đầu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.</a:t>
            </a:r>
          </a:p>
          <a:p>
            <a:pPr algn="l">
              <a:spcBef>
                <a:spcPts val="1500"/>
              </a:spcBef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onConnectionLost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: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 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Mất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kết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nối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đột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 </a:t>
            </a:r>
            <a:r>
              <a:rPr lang="en-US" b="0" i="0" dirty="0" err="1">
                <a:effectLst/>
                <a:latin typeface="Open Sans" panose="020B0606030504020204" pitchFamily="34" charset="0"/>
              </a:rPr>
              <a:t>ngột</a:t>
            </a:r>
            <a:r>
              <a:rPr lang="en-US" b="0" i="0" dirty="0">
                <a:effectLst/>
                <a:latin typeface="Open Sans" panose="020B0606030504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22751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3578-228A-DD19-929F-DC5BA756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164CC64D-8152-BDBF-BC55-E6127C409B5B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2DF2F6BD-262D-7EEF-DDDF-E133E6CDA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58C760A4-6641-2271-5D76-8E0A8A98543E}"/>
              </a:ext>
            </a:extLst>
          </p:cNvPr>
          <p:cNvSpPr txBox="1"/>
          <p:nvPr/>
        </p:nvSpPr>
        <p:spPr>
          <a:xfrm>
            <a:off x="118673" y="1161288"/>
            <a:ext cx="11854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3.3.3 Hiển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thị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Webcam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và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tương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tác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thời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gian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thực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D0CF0863-8F1A-3F87-018D-DAB19A5952BD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8732C-E608-89A2-5171-D661A6A919C4}"/>
              </a:ext>
            </a:extLst>
          </p:cNvPr>
          <p:cNvSpPr txBox="1"/>
          <p:nvPr/>
        </p:nvSpPr>
        <p:spPr>
          <a:xfrm>
            <a:off x="118673" y="2039964"/>
            <a:ext cx="42267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b="1" dirty="0"/>
              <a:t>Cơ chế Truyền tải (Streaming)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BF223D-FCCF-219A-154E-BB0029DA5089}"/>
              </a:ext>
            </a:extLst>
          </p:cNvPr>
          <p:cNvSpPr txBox="1"/>
          <p:nvPr/>
        </p:nvSpPr>
        <p:spPr>
          <a:xfrm>
            <a:off x="6169229" y="1968996"/>
            <a:ext cx="304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Camera Toggle &amp;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endParaRPr lang="en-US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177945-5A6C-4167-169C-D3EC6E3B4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52" y="2487602"/>
            <a:ext cx="5113878" cy="2646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91935E-E4BC-F7C6-25BA-0218AA9B1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694" y="2487603"/>
            <a:ext cx="5693423" cy="262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45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9E519-4B4E-ED16-AF77-7D9A870E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6079092D-353C-3D8A-0795-C4F595189DD2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4741C3D6-B945-7CEB-C0DD-A8B612FDEB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FB039ED5-A832-B6FA-B9C6-FCEA211ABE30}"/>
              </a:ext>
            </a:extLst>
          </p:cNvPr>
          <p:cNvSpPr txBox="1"/>
          <p:nvPr/>
        </p:nvSpPr>
        <p:spPr>
          <a:xfrm>
            <a:off x="3584013" y="3194150"/>
            <a:ext cx="5142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3.4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Nhận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dạng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cử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chỉ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7FC46EC9-E3E8-8FB6-4C2F-1FFB9A1FAF78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0552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8F3E7-1EB5-BD45-7EED-E1AD6DF3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5F56560-7898-DA40-6F9B-DAE2014305C5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0EA2CA0E-E36D-8E4A-F814-0F8F4EA3F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BCB7757-4C4A-11EB-17D5-F1CBA14DAD52}"/>
              </a:ext>
            </a:extLst>
          </p:cNvPr>
          <p:cNvSpPr txBox="1"/>
          <p:nvPr/>
        </p:nvSpPr>
        <p:spPr>
          <a:xfrm>
            <a:off x="73699" y="1288167"/>
            <a:ext cx="6413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3.4.1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khiển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đèn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độc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lập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C23252B6-19C1-85F2-E691-90CEA20F34D8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37F509-71E7-0D76-4834-E9BE6FB51882}"/>
              </a:ext>
            </a:extLst>
          </p:cNvPr>
          <p:cNvSpPr txBox="1"/>
          <p:nvPr/>
        </p:nvSpPr>
        <p:spPr>
          <a:xfrm>
            <a:off x="73699" y="2122932"/>
            <a:ext cx="61737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Open Sans" panose="020B0606030504020204" pitchFamily="34" charset="0"/>
              </a:rPr>
              <a:t>Tay </a:t>
            </a:r>
            <a:r>
              <a:rPr lang="en-US" b="1" i="0" dirty="0" err="1">
                <a:effectLst/>
                <a:latin typeface="Open Sans" panose="020B0606030504020204" pitchFamily="34" charset="0"/>
              </a:rPr>
              <a:t>Trái</a:t>
            </a:r>
            <a:r>
              <a:rPr lang="en-US" b="1" i="0" dirty="0">
                <a:effectLst/>
                <a:latin typeface="Open Sans" panose="020B0606030504020204" pitchFamily="34" charset="0"/>
              </a:rPr>
              <a:t>: </a:t>
            </a:r>
            <a:r>
              <a:rPr lang="vi-VN" dirty="0"/>
              <a:t>Hệ thống nhận diện nhãn Left. Khi người dùng thực hiện cử chỉ xòe tay (hàm is_hand_open trả về True), lệnh {"Kitchen_light": 1} được gửi đi để bật đèn bếp. Ngược lại, khi nắm tay, đèn bếp sẽ tắt.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Tay Phải: </a:t>
            </a:r>
            <a:r>
              <a:rPr lang="vi-VN" dirty="0"/>
              <a:t>Hệ thống nhận diện nhãn Right. Tương tự, cử chỉ xòe/nắm tay sẽ điều khiển trạng thái bật/tắt của đèn phòng khách (Living_light).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391744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9B6EB-2595-BEE4-CC0F-4055F2A9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918EB0E9-E0CD-37B2-D4E2-F34C54995344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1A08B8D5-C95B-51E3-5EBE-A5B08B3CCF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10284CDE-3064-9DD5-BE38-D93D1E20D462}"/>
              </a:ext>
            </a:extLst>
          </p:cNvPr>
          <p:cNvSpPr txBox="1"/>
          <p:nvPr/>
        </p:nvSpPr>
        <p:spPr>
          <a:xfrm>
            <a:off x="73699" y="1288167"/>
            <a:ext cx="64130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3.4.2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Điều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khiển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cửa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nhà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292B6329-6095-9FD3-B908-A50292B2AE29}"/>
              </a:ext>
            </a:extLst>
          </p:cNvPr>
          <p:cNvSpPr txBox="1"/>
          <p:nvPr/>
        </p:nvSpPr>
        <p:spPr>
          <a:xfrm>
            <a:off x="982995" y="226701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III. XÂY DỰNG HỆ THỐNG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44424-0448-0A77-E158-C6364CA8BDED}"/>
              </a:ext>
            </a:extLst>
          </p:cNvPr>
          <p:cNvSpPr txBox="1"/>
          <p:nvPr/>
        </p:nvSpPr>
        <p:spPr>
          <a:xfrm>
            <a:off x="73699" y="2122932"/>
            <a:ext cx="617373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dirty="0"/>
              <a:t>Đây là tính năng tương tác không gian. Khi phát hiện cả hai tay cùng giơ ngón trỏ, hệ thống tính toán khoảng cách Euclidean giữa hai đầu ngón trỏ.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Cử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:</a:t>
            </a:r>
            <a:r>
              <a:rPr lang="en-US" dirty="0"/>
              <a:t> Khi </a:t>
            </a:r>
            <a:r>
              <a:rPr lang="en-US" dirty="0" err="1"/>
              <a:t>kéo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ngón</a:t>
            </a:r>
            <a:r>
              <a:rPr lang="en-US" dirty="0"/>
              <a:t>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xa (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$&gt; 100$ pixel),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{"Door": 1}.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Cử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Đóng</a:t>
            </a:r>
            <a:r>
              <a:rPr lang="en-US" b="1" dirty="0"/>
              <a:t>: </a:t>
            </a:r>
            <a:r>
              <a:rPr lang="en-US" dirty="0"/>
              <a:t>Khi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hẹp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ngón</a:t>
            </a:r>
            <a:r>
              <a:rPr lang="en-US" dirty="0"/>
              <a:t>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(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$&lt; 100$ pixel),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{"Door": 0}</a:t>
            </a:r>
          </a:p>
        </p:txBody>
      </p:sp>
    </p:spTree>
    <p:extLst>
      <p:ext uri="{BB962C8B-B14F-4D97-AF65-F5344CB8AC3E}">
        <p14:creationId xmlns:p14="http://schemas.microsoft.com/office/powerpoint/2010/main" val="39575901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DF60F-61D5-5BAA-E516-A19C48113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5568DC5-2663-E6DE-6200-772B505D6F66}"/>
              </a:ext>
            </a:extLst>
          </p:cNvPr>
          <p:cNvSpPr/>
          <p:nvPr/>
        </p:nvSpPr>
        <p:spPr>
          <a:xfrm>
            <a:off x="0" y="0"/>
            <a:ext cx="12192000" cy="1161288"/>
          </a:xfrm>
          <a:prstGeom prst="rect">
            <a:avLst/>
          </a:prstGeom>
          <a:solidFill>
            <a:srgbClr val="29176F"/>
          </a:solidFill>
          <a:ln>
            <a:solidFill>
              <a:srgbClr val="2917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sz="5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Hình ảnh 5" descr="Ảnh có chứa biểu tượng, Nhãn hiệu, Phông chữ, vòng tròn&#10;&#10;Nội dung do AI tạo ra có thể không chính xác.">
            <a:extLst>
              <a:ext uri="{FF2B5EF4-FFF2-40B4-BE49-F238E27FC236}">
                <a16:creationId xmlns:a16="http://schemas.microsoft.com/office/drawing/2014/main" id="{CF52DFA1-82A5-3084-1EAB-EEA9AAA24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212" y="99822"/>
            <a:ext cx="961644" cy="961644"/>
          </a:xfrm>
          <a:prstGeom prst="rect">
            <a:avLst/>
          </a:prstGeom>
        </p:spPr>
      </p:pic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E47E96F-0012-3BC7-BA16-C9C9F81CD6C2}"/>
              </a:ext>
            </a:extLst>
          </p:cNvPr>
          <p:cNvSpPr txBox="1"/>
          <p:nvPr/>
        </p:nvSpPr>
        <p:spPr>
          <a:xfrm>
            <a:off x="190301" y="2365048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4.2 Phân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tích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hiệu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năng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hệ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thống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Hộp Văn bản 1">
            <a:extLst>
              <a:ext uri="{FF2B5EF4-FFF2-40B4-BE49-F238E27FC236}">
                <a16:creationId xmlns:a16="http://schemas.microsoft.com/office/drawing/2014/main" id="{FDF27D27-3C31-C9EA-3871-9A51827299FB}"/>
              </a:ext>
            </a:extLst>
          </p:cNvPr>
          <p:cNvSpPr txBox="1"/>
          <p:nvPr/>
        </p:nvSpPr>
        <p:spPr>
          <a:xfrm>
            <a:off x="190301" y="193797"/>
            <a:ext cx="10226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CHƯƠNG IV. KẾT LUẬN VÀ HƯỚNG PHÁT TRIỂN</a:t>
            </a:r>
            <a:endParaRPr lang="vi-VN" sz="4000" b="1" dirty="0">
              <a:solidFill>
                <a:srgbClr val="FFFF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Hộp Văn bản 1">
            <a:extLst>
              <a:ext uri="{FF2B5EF4-FFF2-40B4-BE49-F238E27FC236}">
                <a16:creationId xmlns:a16="http://schemas.microsoft.com/office/drawing/2014/main" id="{4C33820B-6E85-B52C-650D-D97EA8602B59}"/>
              </a:ext>
            </a:extLst>
          </p:cNvPr>
          <p:cNvSpPr txBox="1"/>
          <p:nvPr/>
        </p:nvSpPr>
        <p:spPr>
          <a:xfrm>
            <a:off x="190301" y="1409225"/>
            <a:ext cx="11230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4.1 KẾT QUẢ THỰC TẾ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Hộp Văn bản 1">
            <a:extLst>
              <a:ext uri="{FF2B5EF4-FFF2-40B4-BE49-F238E27FC236}">
                <a16:creationId xmlns:a16="http://schemas.microsoft.com/office/drawing/2014/main" id="{233554F8-F5D2-ECE9-DF87-8EC34B245E6A}"/>
              </a:ext>
            </a:extLst>
          </p:cNvPr>
          <p:cNvSpPr txBox="1"/>
          <p:nvPr/>
        </p:nvSpPr>
        <p:spPr>
          <a:xfrm>
            <a:off x="190301" y="3320871"/>
            <a:ext cx="1145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4.3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Hướng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phát</a:t>
            </a:r>
            <a:r>
              <a:rPr lang="en-US" sz="4000" b="1" dirty="0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b="1" dirty="0" err="1">
                <a:solidFill>
                  <a:srgbClr val="29176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triển</a:t>
            </a:r>
            <a:endParaRPr lang="vi-VN" sz="4000" b="1" dirty="0">
              <a:solidFill>
                <a:srgbClr val="29176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39890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5DDB4B023300614AA89A621B9C21AB8C" ma:contentTypeVersion="4" ma:contentTypeDescription="Tạo tài liệu mới." ma:contentTypeScope="" ma:versionID="2ec8b60fc236c2ef854bbb10e4a0b7b2">
  <xsd:schema xmlns:xsd="http://www.w3.org/2001/XMLSchema" xmlns:xs="http://www.w3.org/2001/XMLSchema" xmlns:p="http://schemas.microsoft.com/office/2006/metadata/properties" xmlns:ns2="5b012fb3-d093-4987-a798-b1e4c3823b3a" targetNamespace="http://schemas.microsoft.com/office/2006/metadata/properties" ma:root="true" ma:fieldsID="41ad7cf1149558c244aab82a81ae53c2" ns2:_="">
    <xsd:import namespace="5b012fb3-d093-4987-a798-b1e4c3823b3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012fb3-d093-4987-a798-b1e4c3823b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2073BB-F020-42A4-B7ED-C6AC89D3BA4E}">
  <ds:schemaRefs>
    <ds:schemaRef ds:uri="5b012fb3-d093-4987-a798-b1e4c3823b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6EA579B-EA6C-42EF-A0EE-5C39ECDC5EE1}">
  <ds:schemaRefs>
    <ds:schemaRef ds:uri="0cbdbae7-9db3-4df8-bcd0-79f46ceb3fd6"/>
    <ds:schemaRef ds:uri="6d4c7424-110a-4797-ad7e-671b690efd9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B1C53D-FF53-4C2E-865B-96CB85CF677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3830</Words>
  <Application>Microsoft Office PowerPoint</Application>
  <PresentationFormat>Widescreen</PresentationFormat>
  <Paragraphs>325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Aptos</vt:lpstr>
      <vt:lpstr>Arial</vt:lpstr>
      <vt:lpstr>Calibri</vt:lpstr>
      <vt:lpstr>Courier New</vt:lpstr>
      <vt:lpstr>Google Sans Text</vt:lpstr>
      <vt:lpstr>Open Sans</vt:lpstr>
      <vt:lpstr>Time s New Roman</vt:lpstr>
      <vt:lpstr>Times New Roman</vt:lpstr>
      <vt:lpstr>Wingdings</vt:lpstr>
      <vt:lpstr>Chủ đề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 hien</dc:creator>
  <cp:lastModifiedBy>Tuan NV</cp:lastModifiedBy>
  <cp:revision>5</cp:revision>
  <dcterms:created xsi:type="dcterms:W3CDTF">2025-03-02T13:32:48Z</dcterms:created>
  <dcterms:modified xsi:type="dcterms:W3CDTF">2026-04-30T15:12:16Z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0x0101005DDB4B023300614AA89A621B9C21AB8C</vt:lpwstr>
  </property>
</Properties>
</file>